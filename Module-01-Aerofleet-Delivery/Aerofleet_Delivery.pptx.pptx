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Industry: Logistics. Aerofleet Delivery runs last-mile drone delivery: a small retail order is packed at a store's drone hub and lowered into a designated drop zone in the customer's yard. The business goal is rapid, lightweight delivery, with a target of about 30 minutes, while avoiding collisions and misplaced packages. The problem: traditional last-mile delivery is limited by traffic and driver availability, and flying drones by hand would need a person to check weather, plan routes and watch every flight. The opportunity: AI handles routine flight decisions such as route planning, weather checks, collision avoidance and drop-zone checks, while human operators take over when conditions become ambiguous or unsafe. This market is already real: Walmart and Wing run 13 drone hubs in Greater Houston that reach more than a million consumers.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is AI, orange is human-in-the-loop, light blue is a system step, and dashed grey boxes are the “No” path. Top row, at the store: an order arrives with the customer's chosen drop spot. D1 (AI) checks weight, range and whether the address has a valid drop spot; if not, it goes by van. An associate picks and packs the order, and D2 (human) confirms the package is secured and balanced. D3 (AI) checks weather and flight limits. D4 (AI) checks the route against other operators' flight plans and reroutes or delays if they conflict. Bottom row, in the air: the drone launches, and an operator watches the fleet and can take over any flight. D5 (AI) uses computer vision to check the drop zone. If it is not clear or the AI is unsure, D6 (human) is the safety override: an operator looks at the camera feed and decides to go, retry, or abort, for example telling a lawn ornament from a pet. The package is lowered on a tether and photographed, and D7 (AI) verifies the drop against GPS telemetry. If the drop was not clean, or the customer reports a problem, D8 (human) decides whether to refund, redeliver, or recover the package. Otherwise the drone flies back to recharge and the package is delivered to the correct zone. The key design principle: automate repeatable signals, and escalate ambiguous, high-stakes decisions to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Aerofleet runs a hybrid model: AI for fast, repeatable, data-rich decisions and people for ambiguous, safety-critical exceptions. Where AI fits: D3 uses forecasting and rule checks on weather and flight limits. D4 does real-time routing: operators share flight plans and routes adjust automatically; near Dallas, Flytrex and Wing flew about 8,000 deliveries in shared airspace in early 2026 with zero conflicts. D5 uses computer vision to detect anomalies in the drop zone. D7 validates telemetry, checking the exact drop coordinates with RTK GPS. Where AI does not fully fit: D6 is the safety override, which needs nuanced visual judgment, such as telling a lawn ornament from a pet, and a person who holds final safety accountability; the FAA's proposed Part 108 rule would keep human supervisors accountable for drone fleets. D2 is hands-on work, securing and balancing each package. D8 needs empathy and judgment about whether a customer's claim is genuine. Data needed: real-time weather feeds, live traffic-management data and flight plans, RTK GPS telemetry and battery logs, residential image datasets for object detection, and delivery photos with customer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slideLayout" Target="../slideLayouts/slideLayout1.xml"/><Relationship Id="rId2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9"/>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14304D"/>
          </a:solidFill>
          <a:ln/>
        </p:spPr>
      </p:sp>
      <p:sp>
        <p:nvSpPr>
          <p:cNvPr id="3" name="Text 1"/>
          <p:cNvSpPr/>
          <p:nvPr/>
        </p:nvSpPr>
        <p:spPr>
          <a:xfrm>
            <a:off x="812800" y="711200"/>
            <a:ext cx="10883392" cy="23604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3E6F99"/>
                </a:solidFill>
                <a:latin typeface="Public Sans" pitchFamily="34" charset="0"/>
                <a:ea typeface="Public Sans" pitchFamily="34" charset="-122"/>
                <a:cs typeface="Public Sans" pitchFamily="34" charset="-120"/>
              </a:rPr>
              <a:t>01 • BUSINESS CONTEXT</a:t>
            </a:r>
            <a:endParaRPr lang="en-US" sz="1196" dirty="0"/>
          </a:p>
        </p:txBody>
      </p:sp>
      <p:sp>
        <p:nvSpPr>
          <p:cNvPr id="4" name="Text 2"/>
          <p:cNvSpPr/>
          <p:nvPr/>
        </p:nvSpPr>
        <p:spPr>
          <a:xfrm>
            <a:off x="812800" y="985341"/>
            <a:ext cx="10883392" cy="411609"/>
          </a:xfrm>
          <a:prstGeom prst="rect">
            <a:avLst/>
          </a:prstGeom>
          <a:noFill/>
          <a:ln/>
        </p:spPr>
        <p:txBody>
          <a:bodyPr wrap="square" lIns="0" tIns="0" rIns="0" bIns="0" rtlCol="0" anchor="t">
            <a:normAutofit/>
          </a:bodyPr>
          <a:lstStyle/>
          <a:p>
            <a:pPr algn="l" indent="0" marL="0">
              <a:lnSpc>
                <a:spcPts val="3070"/>
              </a:lnSpc>
              <a:buNone/>
            </a:pPr>
            <a:r>
              <a:rPr lang="en-US" sz="2791" b="1" dirty="0">
                <a:solidFill>
                  <a:srgbClr val="14304D"/>
                </a:solidFill>
                <a:latin typeface="Rubik" pitchFamily="34" charset="0"/>
                <a:ea typeface="Rubik" pitchFamily="34" charset="-122"/>
                <a:cs typeface="Rubik" pitchFamily="34" charset="-120"/>
              </a:rPr>
              <a:t>Autonomous delivery needs speed and safety</a:t>
            </a:r>
            <a:endParaRPr lang="en-US" sz="2791" dirty="0"/>
          </a:p>
        </p:txBody>
      </p:sp>
      <p:sp>
        <p:nvSpPr>
          <p:cNvPr id="5" name="Text 3"/>
          <p:cNvSpPr/>
          <p:nvPr/>
        </p:nvSpPr>
        <p:spPr>
          <a:xfrm>
            <a:off x="812800" y="1435050"/>
            <a:ext cx="10883392" cy="499368"/>
          </a:xfrm>
          <a:prstGeom prst="rect">
            <a:avLst/>
          </a:prstGeom>
          <a:noFill/>
          <a:ln/>
        </p:spPr>
        <p:txBody>
          <a:bodyPr wrap="square" lIns="0" tIns="0" rIns="0" bIns="0" rtlCol="0" anchor="t">
            <a:normAutofit/>
          </a:bodyPr>
          <a:lstStyle/>
          <a:p>
            <a:pPr algn="l" indent="0" marL="0">
              <a:lnSpc>
                <a:spcPts val="1884"/>
              </a:lnSpc>
              <a:buNone/>
            </a:pPr>
            <a:r>
              <a:rPr lang="en-US" sz="1396" dirty="0">
                <a:solidFill>
                  <a:srgbClr val="5A6B7A"/>
                </a:solidFill>
                <a:latin typeface="Public Sans" pitchFamily="34" charset="0"/>
                <a:ea typeface="Public Sans" pitchFamily="34" charset="-122"/>
                <a:cs typeface="Public Sans" pitchFamily="34" charset="-120"/>
              </a:rPr>
              <a:t>Aerofleet Delivery's 30-minute last-mile model gives routine flight decisions to AI and keeps human judgment for critical edge cases.</a:t>
            </a:r>
            <a:endParaRPr lang="en-US" sz="1396" dirty="0"/>
          </a:p>
        </p:txBody>
      </p:sp>
      <p:sp>
        <p:nvSpPr>
          <p:cNvPr id="6" name="Shape 4"/>
          <p:cNvSpPr/>
          <p:nvPr/>
        </p:nvSpPr>
        <p:spPr>
          <a:xfrm>
            <a:off x="819150" y="2093168"/>
            <a:ext cx="5181600" cy="3353743"/>
          </a:xfrm>
          <a:prstGeom prst="roundRect">
            <a:avLst>
              <a:gd name="adj" fmla="val 3597"/>
            </a:avLst>
          </a:prstGeom>
          <a:solidFill>
            <a:srgbClr val="FCFDFD"/>
          </a:solidFill>
          <a:ln w="12700">
            <a:solidFill>
              <a:srgbClr val="D5DDE2"/>
            </a:solidFill>
            <a:prstDash val="solid"/>
          </a:ln>
        </p:spPr>
      </p:sp>
      <p:sp>
        <p:nvSpPr>
          <p:cNvPr id="7" name="Shape 5"/>
          <p:cNvSpPr/>
          <p:nvPr/>
        </p:nvSpPr>
        <p:spPr>
          <a:xfrm>
            <a:off x="1054100" y="2302718"/>
            <a:ext cx="1540966" cy="289520"/>
          </a:xfrm>
          <a:prstGeom prst="roundRect">
            <a:avLst>
              <a:gd name="adj" fmla="val 50000"/>
            </a:avLst>
          </a:prstGeom>
          <a:solidFill>
            <a:srgbClr val="E3EEF7"/>
          </a:solidFill>
          <a:ln/>
        </p:spPr>
      </p:sp>
      <p:sp>
        <p:nvSpPr>
          <p:cNvPr id="8" name="Text 6"/>
          <p:cNvSpPr/>
          <p:nvPr/>
        </p:nvSpPr>
        <p:spPr>
          <a:xfrm>
            <a:off x="1155700" y="2340818"/>
            <a:ext cx="1388566"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304D"/>
                </a:solidFill>
                <a:latin typeface="Public Sans" pitchFamily="34" charset="0"/>
                <a:ea typeface="Public Sans" pitchFamily="34" charset="-122"/>
                <a:cs typeface="Public Sans" pitchFamily="34" charset="-120"/>
              </a:rPr>
              <a:t>BUSINESS GOAL</a:t>
            </a:r>
            <a:endParaRPr lang="en-US" sz="1200" dirty="0"/>
          </a:p>
        </p:txBody>
      </p:sp>
      <p:sp>
        <p:nvSpPr>
          <p:cNvPr id="9" name="Text 7"/>
          <p:cNvSpPr/>
          <p:nvPr/>
        </p:nvSpPr>
        <p:spPr>
          <a:xfrm>
            <a:off x="1054100" y="2668439"/>
            <a:ext cx="4853051"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4304D"/>
                </a:solidFill>
                <a:latin typeface="Rubik" pitchFamily="34" charset="0"/>
                <a:ea typeface="Rubik" pitchFamily="34" charset="-122"/>
                <a:cs typeface="Rubik" pitchFamily="34" charset="-120"/>
              </a:rPr>
              <a:t>Rapid, lightweight delivery to designated drop zones.</a:t>
            </a:r>
            <a:endParaRPr lang="en-US" sz="2000" dirty="0"/>
          </a:p>
        </p:txBody>
      </p:sp>
      <p:sp>
        <p:nvSpPr>
          <p:cNvPr id="10" name="Text 8"/>
          <p:cNvSpPr/>
          <p:nvPr/>
        </p:nvSpPr>
        <p:spPr>
          <a:xfrm>
            <a:off x="1054100" y="3328839"/>
            <a:ext cx="485305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3444F"/>
                </a:solidFill>
                <a:latin typeface="Public Sans" pitchFamily="34" charset="0"/>
                <a:ea typeface="Public Sans" pitchFamily="34" charset="-122"/>
                <a:cs typeface="Public Sans" pitchFamily="34" charset="-120"/>
              </a:rPr>
              <a:t>Target: deliver in about 30 minutes while avoiding collisions and misplaced packages.</a:t>
            </a:r>
            <a:endParaRPr lang="en-US" sz="1400" dirty="0"/>
          </a:p>
        </p:txBody>
      </p:sp>
      <p:pic>
        <p:nvPicPr>
          <p:cNvPr id="11" name="Image 0" descr="line">    </p:cNvPr>
          <p:cNvPicPr>
            <a:picLocks noChangeAspect="1"/>
          </p:cNvPicPr>
          <p:nvPr/>
        </p:nvPicPr>
        <p:blipFill>
          <a:blip r:embed="rId1"/>
          <a:srcRect l="0" r="0" t="0" b="0"/>
          <a:stretch/>
        </p:blipFill>
        <p:spPr>
          <a:xfrm>
            <a:off x="1054100" y="3885059"/>
            <a:ext cx="4711700" cy="25400"/>
          </a:xfrm>
          <a:prstGeom prst="rect">
            <a:avLst/>
          </a:prstGeom>
        </p:spPr>
      </p:pic>
      <p:sp>
        <p:nvSpPr>
          <p:cNvPr id="12" name="Text 9"/>
          <p:cNvSpPr/>
          <p:nvPr/>
        </p:nvSpPr>
        <p:spPr>
          <a:xfrm>
            <a:off x="1054100" y="3986659"/>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B7A"/>
                </a:solidFill>
                <a:latin typeface="Public Sans" pitchFamily="34" charset="0"/>
                <a:ea typeface="Public Sans" pitchFamily="34" charset="-122"/>
                <a:cs typeface="Public Sans" pitchFamily="34" charset="-120"/>
              </a:rPr>
              <a:t>PROBLEM → OPPORTUNITY</a:t>
            </a:r>
            <a:endParaRPr lang="en-US" sz="1200" dirty="0"/>
          </a:p>
        </p:txBody>
      </p:sp>
      <p:sp>
        <p:nvSpPr>
          <p:cNvPr id="13" name="Text 10"/>
          <p:cNvSpPr/>
          <p:nvPr/>
        </p:nvSpPr>
        <p:spPr>
          <a:xfrm>
            <a:off x="1054100" y="4276179"/>
            <a:ext cx="4853051" cy="74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3444F"/>
                </a:solidFill>
                <a:latin typeface="Public Sans" pitchFamily="34" charset="0"/>
                <a:ea typeface="Public Sans" pitchFamily="34" charset="-122"/>
                <a:cs typeface="Public Sans" pitchFamily="34" charset="-120"/>
              </a:rPr>
              <a:t>Vans are slowed by traffic and driver availability.</a:t>
            </a:r>
            <a:r>
              <a:rPr lang="en-US" sz="1400" dirty="0">
                <a:solidFill>
                  <a:srgbClr val="33444F"/>
                </a:solidFill>
                <a:latin typeface="Public Sans" pitchFamily="34" charset="0"/>
                <a:ea typeface="Public Sans" pitchFamily="34" charset="-122"/>
                <a:cs typeface="Public Sans" pitchFamily="34" charset="-120"/>
              </a:rPr>
              <a:t> AI can automate routing and collision avoidance, while operators handle safety overrides.</a:t>
            </a:r>
            <a:endParaRPr lang="en-US" sz="1400" dirty="0"/>
          </a:p>
        </p:txBody>
      </p:sp>
      <p:sp>
        <p:nvSpPr>
          <p:cNvPr id="14" name="Shape 11"/>
          <p:cNvSpPr/>
          <p:nvPr/>
        </p:nvSpPr>
        <p:spPr>
          <a:xfrm>
            <a:off x="6191250" y="2093168"/>
            <a:ext cx="5181600" cy="3353743"/>
          </a:xfrm>
          <a:prstGeom prst="roundRect">
            <a:avLst>
              <a:gd name="adj" fmla="val 3597"/>
            </a:avLst>
          </a:prstGeom>
          <a:solidFill>
            <a:srgbClr val="EAF1F6"/>
          </a:solidFill>
          <a:ln w="12700">
            <a:solidFill>
              <a:srgbClr val="D5DDE2"/>
            </a:solidFill>
            <a:prstDash val="solid"/>
          </a:ln>
        </p:spPr>
      </p:sp>
      <p:sp>
        <p:nvSpPr>
          <p:cNvPr id="15" name="Text 12"/>
          <p:cNvSpPr/>
          <p:nvPr/>
        </p:nvSpPr>
        <p:spPr>
          <a:xfrm>
            <a:off x="6426200" y="2302718"/>
            <a:ext cx="4853051" cy="234900"/>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5A6B7A"/>
                </a:solidFill>
                <a:latin typeface="Public Sans" pitchFamily="34" charset="0"/>
                <a:ea typeface="Public Sans" pitchFamily="34" charset="-122"/>
                <a:cs typeface="Public Sans" pitchFamily="34" charset="-120"/>
              </a:rPr>
              <a:t>OPERATIONAL SHIFT</a:t>
            </a:r>
            <a:endParaRPr lang="en-US" sz="1196" dirty="0"/>
          </a:p>
        </p:txBody>
      </p:sp>
      <p:sp>
        <p:nvSpPr>
          <p:cNvPr id="16" name="Shape 13"/>
          <p:cNvSpPr/>
          <p:nvPr/>
        </p:nvSpPr>
        <p:spPr>
          <a:xfrm>
            <a:off x="6426200" y="2613819"/>
            <a:ext cx="4711700" cy="972344"/>
          </a:xfrm>
          <a:prstGeom prst="roundRect">
            <a:avLst>
              <a:gd name="adj" fmla="val 9143"/>
            </a:avLst>
          </a:prstGeom>
          <a:solidFill>
            <a:srgbClr val="1F6B45"/>
          </a:solidFill>
          <a:ln/>
        </p:spPr>
      </p:sp>
      <p:sp>
        <p:nvSpPr>
          <p:cNvPr id="17" name="Text 14"/>
          <p:cNvSpPr/>
          <p:nvPr/>
        </p:nvSpPr>
        <p:spPr>
          <a:xfrm>
            <a:off x="6578600" y="2740819"/>
            <a:ext cx="4539107" cy="234702"/>
          </a:xfrm>
          <a:prstGeom prst="rect">
            <a:avLst/>
          </a:prstGeom>
          <a:noFill/>
          <a:ln/>
        </p:spPr>
        <p:txBody>
          <a:bodyPr wrap="square" lIns="0" tIns="0" rIns="0" bIns="0" rtlCol="0" anchor="t">
            <a:normAutofit/>
          </a:bodyPr>
          <a:lstStyle/>
          <a:p>
            <a:pPr algn="l" indent="0" marL="0">
              <a:lnSpc>
                <a:spcPts val="1675"/>
              </a:lnSpc>
              <a:buNone/>
            </a:pPr>
            <a:r>
              <a:rPr lang="en-US" sz="1196" b="1" spc="50" kern="0" dirty="0">
                <a:solidFill>
                  <a:srgbClr val="CFE8D9"/>
                </a:solidFill>
                <a:latin typeface="Public Sans" pitchFamily="34" charset="0"/>
                <a:ea typeface="Public Sans" pitchFamily="34" charset="-122"/>
                <a:cs typeface="Public Sans" pitchFamily="34" charset="-120"/>
              </a:rPr>
              <a:t>AI HANDLES ROUTINE FLIGHT DECISIONS</a:t>
            </a:r>
            <a:endParaRPr lang="en-US" sz="1196" dirty="0"/>
          </a:p>
        </p:txBody>
      </p:sp>
      <p:sp>
        <p:nvSpPr>
          <p:cNvPr id="18" name="Text 15"/>
          <p:cNvSpPr/>
          <p:nvPr/>
        </p:nvSpPr>
        <p:spPr>
          <a:xfrm>
            <a:off x="6578600" y="2988221"/>
            <a:ext cx="4539107" cy="496342"/>
          </a:xfrm>
          <a:prstGeom prst="rect">
            <a:avLst/>
          </a:prstGeom>
          <a:noFill/>
          <a:ln/>
        </p:spPr>
        <p:txBody>
          <a:bodyPr wrap="square" lIns="0" tIns="0" rIns="0" bIns="0" rtlCol="0" anchor="t">
            <a:normAutofit/>
          </a:bodyPr>
          <a:lstStyle/>
          <a:p>
            <a:pPr algn="l" indent="0" marL="0">
              <a:lnSpc>
                <a:spcPts val="1860"/>
              </a:lnSpc>
              <a:buNone/>
            </a:pPr>
            <a:r>
              <a:rPr lang="en-US" sz="1378" dirty="0">
                <a:solidFill>
                  <a:srgbClr val="F4F8F5"/>
                </a:solidFill>
                <a:latin typeface="Public Sans" pitchFamily="34" charset="0"/>
                <a:ea typeface="Public Sans" pitchFamily="34" charset="-122"/>
                <a:cs typeface="Public Sans" pitchFamily="34" charset="-120"/>
              </a:rPr>
              <a:t>Route planning, weather checks, collision avoidance, and drop-zone checks.</a:t>
            </a:r>
            <a:endParaRPr lang="en-US" sz="1378" dirty="0"/>
          </a:p>
        </p:txBody>
      </p:sp>
      <p:sp>
        <p:nvSpPr>
          <p:cNvPr id="19" name="Shape 16"/>
          <p:cNvSpPr/>
          <p:nvPr/>
        </p:nvSpPr>
        <p:spPr>
          <a:xfrm>
            <a:off x="6432550" y="3694113"/>
            <a:ext cx="4699000" cy="749300"/>
          </a:xfrm>
          <a:prstGeom prst="roundRect">
            <a:avLst>
              <a:gd name="adj" fmla="val 11017"/>
            </a:avLst>
          </a:prstGeom>
          <a:solidFill>
            <a:srgbClr val="FBE2CB"/>
          </a:solidFill>
          <a:ln w="12700">
            <a:solidFill>
              <a:srgbClr val="C8661A"/>
            </a:solidFill>
            <a:prstDash val="solid"/>
          </a:ln>
        </p:spPr>
      </p:sp>
      <p:sp>
        <p:nvSpPr>
          <p:cNvPr id="20" name="Text 17"/>
          <p:cNvSpPr/>
          <p:nvPr/>
        </p:nvSpPr>
        <p:spPr>
          <a:xfrm>
            <a:off x="6591300" y="3827463"/>
            <a:ext cx="4512945" cy="234553"/>
          </a:xfrm>
          <a:prstGeom prst="rect">
            <a:avLst/>
          </a:prstGeom>
          <a:noFill/>
          <a:ln/>
        </p:spPr>
        <p:txBody>
          <a:bodyPr wrap="square" lIns="0" tIns="0" rIns="0" bIns="0" rtlCol="0" anchor="t">
            <a:normAutofit/>
          </a:bodyPr>
          <a:lstStyle/>
          <a:p>
            <a:pPr algn="l" indent="0" marL="0">
              <a:lnSpc>
                <a:spcPts val="1675"/>
              </a:lnSpc>
              <a:buNone/>
            </a:pPr>
            <a:r>
              <a:rPr lang="en-US" sz="1196" b="1" spc="50" kern="0" dirty="0">
                <a:solidFill>
                  <a:srgbClr val="8A410C"/>
                </a:solidFill>
                <a:latin typeface="Public Sans" pitchFamily="34" charset="0"/>
                <a:ea typeface="Public Sans" pitchFamily="34" charset="-122"/>
                <a:cs typeface="Public Sans" pitchFamily="34" charset="-120"/>
              </a:rPr>
              <a:t>HUMAN OVERRIDE</a:t>
            </a:r>
            <a:endParaRPr lang="en-US" sz="1196" dirty="0"/>
          </a:p>
        </p:txBody>
      </p:sp>
      <p:sp>
        <p:nvSpPr>
          <p:cNvPr id="21" name="Text 18"/>
          <p:cNvSpPr/>
          <p:nvPr/>
        </p:nvSpPr>
        <p:spPr>
          <a:xfrm>
            <a:off x="6591300" y="4074716"/>
            <a:ext cx="4512945" cy="260747"/>
          </a:xfrm>
          <a:prstGeom prst="rect">
            <a:avLst/>
          </a:prstGeom>
          <a:noFill/>
          <a:ln/>
        </p:spPr>
        <p:txBody>
          <a:bodyPr wrap="square" lIns="0" tIns="0" rIns="0" bIns="0" rtlCol="0" anchor="t">
            <a:normAutofit/>
          </a:bodyPr>
          <a:lstStyle/>
          <a:p>
            <a:pPr algn="l" indent="0" marL="0">
              <a:lnSpc>
                <a:spcPts val="1872"/>
              </a:lnSpc>
              <a:buNone/>
            </a:pPr>
            <a:r>
              <a:rPr lang="en-US" sz="1387" dirty="0">
                <a:solidFill>
                  <a:srgbClr val="14304D"/>
                </a:solidFill>
                <a:latin typeface="Public Sans" pitchFamily="34" charset="0"/>
                <a:ea typeface="Public Sans" pitchFamily="34" charset="-122"/>
                <a:cs typeface="Public Sans" pitchFamily="34" charset="-120"/>
              </a:rPr>
              <a:t>Used when conditions become ambiguous or unsafe.</a:t>
            </a:r>
            <a:endParaRPr lang="en-US" sz="1387" dirty="0"/>
          </a:p>
        </p:txBody>
      </p:sp>
      <p:sp>
        <p:nvSpPr>
          <p:cNvPr id="22" name="Text 19"/>
          <p:cNvSpPr/>
          <p:nvPr/>
        </p:nvSpPr>
        <p:spPr>
          <a:xfrm>
            <a:off x="6426200" y="4551363"/>
            <a:ext cx="1519734" cy="317500"/>
          </a:xfrm>
          <a:prstGeom prst="rect">
            <a:avLst/>
          </a:prstGeom>
          <a:noFill/>
          <a:ln/>
        </p:spPr>
        <p:txBody>
          <a:bodyPr wrap="none" lIns="0" tIns="0" rIns="0" bIns="0" rtlCol="0" anchor="t">
            <a:normAutofit/>
          </a:bodyPr>
          <a:lstStyle/>
          <a:p>
            <a:pPr algn="l" indent="0" marL="0">
              <a:lnSpc>
                <a:spcPts val="2300"/>
              </a:lnSpc>
              <a:buNone/>
            </a:pPr>
            <a:r>
              <a:rPr lang="en-US" sz="2000" b="1" dirty="0">
                <a:solidFill>
                  <a:srgbClr val="14304D"/>
                </a:solidFill>
                <a:latin typeface="Rubik" pitchFamily="34" charset="0"/>
                <a:ea typeface="Rubik" pitchFamily="34" charset="-122"/>
                <a:cs typeface="Rubik" pitchFamily="34" charset="-120"/>
              </a:rPr>
              <a:t>30 min</a:t>
            </a:r>
            <a:endParaRPr lang="en-US" sz="2000" dirty="0"/>
          </a:p>
        </p:txBody>
      </p:sp>
      <p:sp>
        <p:nvSpPr>
          <p:cNvPr id="23" name="Text 20"/>
          <p:cNvSpPr/>
          <p:nvPr/>
        </p:nvSpPr>
        <p:spPr>
          <a:xfrm>
            <a:off x="6426200" y="4868863"/>
            <a:ext cx="151973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3444F"/>
                </a:solidFill>
                <a:latin typeface="Public Sans" pitchFamily="34" charset="0"/>
                <a:ea typeface="Public Sans" pitchFamily="34" charset="-122"/>
                <a:cs typeface="Public Sans" pitchFamily="34" charset="-120"/>
              </a:rPr>
              <a:t>delivery target</a:t>
            </a:r>
            <a:endParaRPr lang="en-US" sz="1200" dirty="0"/>
          </a:p>
        </p:txBody>
      </p:sp>
      <p:sp>
        <p:nvSpPr>
          <p:cNvPr id="24" name="Text 21"/>
          <p:cNvSpPr/>
          <p:nvPr/>
        </p:nvSpPr>
        <p:spPr>
          <a:xfrm>
            <a:off x="8047534" y="4551363"/>
            <a:ext cx="1519783" cy="312093"/>
          </a:xfrm>
          <a:prstGeom prst="rect">
            <a:avLst/>
          </a:prstGeom>
          <a:noFill/>
          <a:ln/>
        </p:spPr>
        <p:txBody>
          <a:bodyPr wrap="none" lIns="0" tIns="0" rIns="0" bIns="0" rtlCol="0" anchor="t">
            <a:normAutofit/>
          </a:bodyPr>
          <a:lstStyle/>
          <a:p>
            <a:pPr algn="l" indent="0" marL="0">
              <a:lnSpc>
                <a:spcPts val="2271"/>
              </a:lnSpc>
              <a:buNone/>
            </a:pPr>
            <a:r>
              <a:rPr lang="en-US" sz="1975" b="1" dirty="0">
                <a:solidFill>
                  <a:srgbClr val="14304D"/>
                </a:solidFill>
                <a:latin typeface="Rubik" pitchFamily="34" charset="0"/>
                <a:ea typeface="Rubik" pitchFamily="34" charset="-122"/>
                <a:cs typeface="Rubik" pitchFamily="34" charset="-120"/>
              </a:rPr>
              <a:t>13 hubs</a:t>
            </a:r>
            <a:endParaRPr lang="en-US" sz="1975" dirty="0"/>
          </a:p>
        </p:txBody>
      </p:sp>
      <p:sp>
        <p:nvSpPr>
          <p:cNvPr id="25" name="Text 22"/>
          <p:cNvSpPr/>
          <p:nvPr/>
        </p:nvSpPr>
        <p:spPr>
          <a:xfrm>
            <a:off x="8047534" y="4863455"/>
            <a:ext cx="1519783" cy="399306"/>
          </a:xfrm>
          <a:prstGeom prst="rect">
            <a:avLst/>
          </a:prstGeom>
          <a:noFill/>
          <a:ln/>
        </p:spPr>
        <p:txBody>
          <a:bodyPr wrap="square" lIns="0" tIns="0" rIns="0" bIns="0" rtlCol="0" anchor="t">
            <a:normAutofit/>
          </a:bodyPr>
          <a:lstStyle/>
          <a:p>
            <a:pPr algn="l" indent="0" marL="0">
              <a:lnSpc>
                <a:spcPts val="1486"/>
              </a:lnSpc>
              <a:buNone/>
            </a:pPr>
            <a:r>
              <a:rPr lang="en-US" sz="1189" dirty="0">
                <a:solidFill>
                  <a:srgbClr val="33444F"/>
                </a:solidFill>
                <a:latin typeface="Public Sans" pitchFamily="34" charset="0"/>
                <a:ea typeface="Public Sans" pitchFamily="34" charset="-122"/>
                <a:cs typeface="Public Sans" pitchFamily="34" charset="-120"/>
              </a:rPr>
              <a:t>Walmart + Wing, Houston</a:t>
            </a:r>
            <a:endParaRPr lang="en-US" sz="1189" dirty="0"/>
          </a:p>
        </p:txBody>
      </p:sp>
      <p:sp>
        <p:nvSpPr>
          <p:cNvPr id="26" name="Text 23"/>
          <p:cNvSpPr/>
          <p:nvPr/>
        </p:nvSpPr>
        <p:spPr>
          <a:xfrm>
            <a:off x="9668917" y="4551363"/>
            <a:ext cx="1519783" cy="317500"/>
          </a:xfrm>
          <a:prstGeom prst="rect">
            <a:avLst/>
          </a:prstGeom>
          <a:noFill/>
          <a:ln/>
        </p:spPr>
        <p:txBody>
          <a:bodyPr wrap="none" lIns="0" tIns="0" rIns="0" bIns="0" rtlCol="0" anchor="t">
            <a:normAutofit/>
          </a:bodyPr>
          <a:lstStyle/>
          <a:p>
            <a:pPr algn="l" indent="0" marL="0">
              <a:lnSpc>
                <a:spcPts val="2300"/>
              </a:lnSpc>
              <a:buNone/>
            </a:pPr>
            <a:r>
              <a:rPr lang="en-US" sz="2000" b="1" dirty="0">
                <a:solidFill>
                  <a:srgbClr val="14304D"/>
                </a:solidFill>
                <a:latin typeface="Rubik" pitchFamily="34" charset="0"/>
                <a:ea typeface="Rubik" pitchFamily="34" charset="-122"/>
                <a:cs typeface="Rubik" pitchFamily="34" charset="-120"/>
              </a:rPr>
              <a:t>1M+</a:t>
            </a:r>
            <a:endParaRPr lang="en-US" sz="2000" dirty="0"/>
          </a:p>
        </p:txBody>
      </p:sp>
      <p:sp>
        <p:nvSpPr>
          <p:cNvPr id="27" name="Text 24"/>
          <p:cNvSpPr/>
          <p:nvPr/>
        </p:nvSpPr>
        <p:spPr>
          <a:xfrm>
            <a:off x="9668917" y="4868863"/>
            <a:ext cx="1519783"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3444F"/>
                </a:solidFill>
                <a:latin typeface="Public Sans" pitchFamily="34" charset="0"/>
                <a:ea typeface="Public Sans" pitchFamily="34" charset="-122"/>
                <a:cs typeface="Public Sans" pitchFamily="34" charset="-120"/>
              </a:rPr>
              <a:t>consumers in range</a:t>
            </a:r>
            <a:endParaRPr lang="en-US" sz="1200" dirty="0"/>
          </a:p>
        </p:txBody>
      </p:sp>
      <p:sp>
        <p:nvSpPr>
          <p:cNvPr id="28" name="Text 25"/>
          <p:cNvSpPr/>
          <p:nvPr/>
        </p:nvSpPr>
        <p:spPr>
          <a:xfrm>
            <a:off x="654304" y="5631061"/>
            <a:ext cx="10883392" cy="236339"/>
          </a:xfrm>
          <a:prstGeom prst="rect">
            <a:avLst/>
          </a:prstGeom>
          <a:noFill/>
          <a:ln/>
        </p:spPr>
        <p:txBody>
          <a:bodyPr wrap="square" lIns="0" tIns="0" rIns="0" bIns="0" rtlCol="0" anchor="t">
            <a:normAutofit/>
          </a:bodyPr>
          <a:lstStyle/>
          <a:p>
            <a:pPr algn="ctr" indent="0" marL="0">
              <a:lnSpc>
                <a:spcPts val="1675"/>
              </a:lnSpc>
              <a:buNone/>
            </a:pPr>
            <a:r>
              <a:rPr lang="en-US" sz="1196" b="1" spc="100" kern="0" dirty="0">
                <a:solidFill>
                  <a:srgbClr val="14304D"/>
                </a:solidFill>
                <a:latin typeface="Public Sans" pitchFamily="34" charset="0"/>
                <a:ea typeface="Public Sans" pitchFamily="34" charset="-122"/>
                <a:cs typeface="Public Sans" pitchFamily="34" charset="-120"/>
              </a:rPr>
              <a:t>THINK FIRST → MAP PROCESS → IDENTIFY DECISIONS → EVALUATE AI VS. HUMAN</a:t>
            </a:r>
            <a:endParaRPr lang="en-US" sz="1196" dirty="0"/>
          </a:p>
        </p:txBody>
      </p:sp>
      <p:sp>
        <p:nvSpPr>
          <p:cNvPr id="29" name="Text 26"/>
          <p:cNvSpPr/>
          <p:nvPr/>
        </p:nvSpPr>
        <p:spPr>
          <a:xfrm>
            <a:off x="812800" y="6238280"/>
            <a:ext cx="49253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B7A"/>
                </a:solidFill>
                <a:latin typeface="Public Sans" pitchFamily="34" charset="0"/>
                <a:ea typeface="Public Sans" pitchFamily="34" charset="-122"/>
                <a:cs typeface="Public Sans" pitchFamily="34" charset="-120"/>
              </a:rPr>
              <a:t>AEROFLEET DELIVERY</a:t>
            </a:r>
            <a:r>
              <a:rPr lang="en-US" sz="1200" dirty="0">
                <a:solidFill>
                  <a:srgbClr val="5A6B7A"/>
                </a:solidFill>
                <a:latin typeface="Public Sans" pitchFamily="34" charset="0"/>
                <a:ea typeface="Public Sans" pitchFamily="34" charset="-122"/>
                <a:cs typeface="Public Sans" pitchFamily="34" charset="-120"/>
              </a:rPr>
              <a:t> · Sources: Chain Store Age, DroneXL (2026)</a:t>
            </a:r>
            <a:endParaRPr lang="en-US" sz="1200" dirty="0"/>
          </a:p>
        </p:txBody>
      </p:sp>
      <p:sp>
        <p:nvSpPr>
          <p:cNvPr id="30" name="Text 27"/>
          <p:cNvSpPr/>
          <p:nvPr/>
        </p:nvSpPr>
        <p:spPr>
          <a:xfrm>
            <a:off x="8824813" y="6238280"/>
            <a:ext cx="2631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A"/>
                </a:solidFill>
                <a:latin typeface="Public Sans" pitchFamily="34" charset="0"/>
                <a:ea typeface="Public Sans" pitchFamily="34" charset="-122"/>
                <a:cs typeface="Public Sans" pitchFamily="34" charset="-120"/>
              </a:rPr>
              <a:t>Logistics • AI + human-in-the-loop · 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14304D"/>
          </a:solidFill>
          <a:ln/>
        </p:spPr>
      </p:sp>
      <p:sp>
        <p:nvSpPr>
          <p:cNvPr id="3" name="Text 1"/>
          <p:cNvSpPr/>
          <p:nvPr/>
        </p:nvSpPr>
        <p:spPr>
          <a:xfrm>
            <a:off x="812800" y="7112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E6F99"/>
                </a:solidFill>
                <a:latin typeface="Public Sans" pitchFamily="34" charset="0"/>
                <a:ea typeface="Public Sans" pitchFamily="34" charset="-122"/>
                <a:cs typeface="Public Sans" pitchFamily="34" charset="-120"/>
              </a:rPr>
              <a:t>02 • PROCESS MAP</a:t>
            </a:r>
            <a:endParaRPr lang="en-US" sz="1200" dirty="0"/>
          </a:p>
        </p:txBody>
      </p:sp>
      <p:sp>
        <p:nvSpPr>
          <p:cNvPr id="4" name="Text 2"/>
          <p:cNvSpPr/>
          <p:nvPr/>
        </p:nvSpPr>
        <p:spPr>
          <a:xfrm>
            <a:off x="812800" y="9525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304D"/>
                </a:solidFill>
                <a:latin typeface="Rubik" pitchFamily="34" charset="0"/>
                <a:ea typeface="Rubik" pitchFamily="34" charset="-122"/>
                <a:cs typeface="Rubik" pitchFamily="34" charset="-120"/>
              </a:rPr>
              <a:t>A chain of decisions, not a single AI task</a:t>
            </a:r>
            <a:endParaRPr lang="en-US" sz="2800" dirty="0"/>
          </a:p>
        </p:txBody>
      </p:sp>
      <p:sp>
        <p:nvSpPr>
          <p:cNvPr id="5" name="Shape 3"/>
          <p:cNvSpPr/>
          <p:nvPr/>
        </p:nvSpPr>
        <p:spPr>
          <a:xfrm>
            <a:off x="822325" y="1444625"/>
            <a:ext cx="806450" cy="278110"/>
          </a:xfrm>
          <a:prstGeom prst="roundRect">
            <a:avLst>
              <a:gd name="adj" fmla="val 50000"/>
            </a:avLst>
          </a:prstGeom>
          <a:solidFill>
            <a:srgbClr val="1F6B45"/>
          </a:solidFill>
          <a:ln w="19050">
            <a:solidFill>
              <a:srgbClr val="1F6B45"/>
            </a:solidFill>
            <a:prstDash val="solid"/>
          </a:ln>
        </p:spPr>
      </p:sp>
      <p:sp>
        <p:nvSpPr>
          <p:cNvPr id="6" name="Text 4"/>
          <p:cNvSpPr/>
          <p:nvPr/>
        </p:nvSpPr>
        <p:spPr>
          <a:xfrm>
            <a:off x="806450" y="1492250"/>
            <a:ext cx="838200"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F4F8F5"/>
                </a:solidFill>
                <a:latin typeface="Public Sans" pitchFamily="34" charset="0"/>
                <a:ea typeface="Public Sans" pitchFamily="34" charset="-122"/>
                <a:cs typeface="Public Sans" pitchFamily="34" charset="-120"/>
              </a:rPr>
              <a:t>AI step</a:t>
            </a:r>
            <a:endParaRPr lang="en-US" sz="1200" dirty="0"/>
          </a:p>
        </p:txBody>
      </p:sp>
      <p:sp>
        <p:nvSpPr>
          <p:cNvPr id="7" name="Shape 5"/>
          <p:cNvSpPr/>
          <p:nvPr/>
        </p:nvSpPr>
        <p:spPr>
          <a:xfrm>
            <a:off x="1736725" y="1444625"/>
            <a:ext cx="1631950" cy="278110"/>
          </a:xfrm>
          <a:prstGeom prst="roundRect">
            <a:avLst>
              <a:gd name="adj" fmla="val 50000"/>
            </a:avLst>
          </a:prstGeom>
          <a:solidFill>
            <a:srgbClr val="FBE2CB"/>
          </a:solidFill>
          <a:ln w="19050">
            <a:solidFill>
              <a:srgbClr val="C8661A"/>
            </a:solidFill>
            <a:prstDash val="solid"/>
          </a:ln>
        </p:spPr>
      </p:sp>
      <p:sp>
        <p:nvSpPr>
          <p:cNvPr id="8" name="Text 6"/>
          <p:cNvSpPr/>
          <p:nvPr/>
        </p:nvSpPr>
        <p:spPr>
          <a:xfrm>
            <a:off x="1720850" y="1492250"/>
            <a:ext cx="1663700"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304D"/>
                </a:solidFill>
                <a:latin typeface="Public Sans" pitchFamily="34" charset="0"/>
                <a:ea typeface="Public Sans" pitchFamily="34" charset="-122"/>
                <a:cs typeface="Public Sans" pitchFamily="34" charset="-120"/>
              </a:rPr>
              <a:t>Human-in-the-loop</a:t>
            </a:r>
            <a:endParaRPr lang="en-US" sz="1200" dirty="0"/>
          </a:p>
        </p:txBody>
      </p:sp>
      <p:sp>
        <p:nvSpPr>
          <p:cNvPr id="9" name="Shape 7"/>
          <p:cNvSpPr/>
          <p:nvPr/>
        </p:nvSpPr>
        <p:spPr>
          <a:xfrm>
            <a:off x="3476625" y="1444625"/>
            <a:ext cx="1123950" cy="278110"/>
          </a:xfrm>
          <a:prstGeom prst="roundRect">
            <a:avLst>
              <a:gd name="adj" fmla="val 50000"/>
            </a:avLst>
          </a:prstGeom>
          <a:solidFill>
            <a:srgbClr val="E6EFF6"/>
          </a:solidFill>
          <a:ln w="19050">
            <a:solidFill>
              <a:srgbClr val="7F9DB5"/>
            </a:solidFill>
            <a:prstDash val="solid"/>
          </a:ln>
        </p:spPr>
      </p:sp>
      <p:sp>
        <p:nvSpPr>
          <p:cNvPr id="10" name="Text 8"/>
          <p:cNvSpPr/>
          <p:nvPr/>
        </p:nvSpPr>
        <p:spPr>
          <a:xfrm>
            <a:off x="3460750" y="1492250"/>
            <a:ext cx="1155700"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304D"/>
                </a:solidFill>
                <a:latin typeface="Public Sans" pitchFamily="34" charset="0"/>
                <a:ea typeface="Public Sans" pitchFamily="34" charset="-122"/>
                <a:cs typeface="Public Sans" pitchFamily="34" charset="-120"/>
              </a:rPr>
              <a:t>System step</a:t>
            </a:r>
            <a:endParaRPr lang="en-US" sz="1200" dirty="0"/>
          </a:p>
        </p:txBody>
      </p:sp>
      <p:sp>
        <p:nvSpPr>
          <p:cNvPr id="11" name="Shape 9"/>
          <p:cNvSpPr/>
          <p:nvPr/>
        </p:nvSpPr>
        <p:spPr>
          <a:xfrm>
            <a:off x="4705350" y="1441450"/>
            <a:ext cx="939800" cy="271760"/>
          </a:xfrm>
          <a:prstGeom prst="roundRect">
            <a:avLst>
              <a:gd name="adj" fmla="val 50000"/>
            </a:avLst>
          </a:prstGeom>
          <a:solidFill>
            <a:srgbClr val="F1F4F6"/>
          </a:solidFill>
          <a:ln w="12700">
            <a:solidFill>
              <a:srgbClr val="8A9BA6"/>
            </a:solidFill>
            <a:prstDash val="dash"/>
          </a:ln>
        </p:spPr>
      </p:sp>
      <p:sp>
        <p:nvSpPr>
          <p:cNvPr id="12" name="Text 10"/>
          <p:cNvSpPr/>
          <p:nvPr/>
        </p:nvSpPr>
        <p:spPr>
          <a:xfrm>
            <a:off x="4686300" y="1485900"/>
            <a:ext cx="977900"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304D"/>
                </a:solidFill>
                <a:latin typeface="Public Sans" pitchFamily="34" charset="0"/>
                <a:ea typeface="Public Sans" pitchFamily="34" charset="-122"/>
                <a:cs typeface="Public Sans" pitchFamily="34" charset="-120"/>
              </a:rPr>
              <a:t>“No” path</a:t>
            </a:r>
            <a:endParaRPr lang="en-US" sz="1200" dirty="0"/>
          </a:p>
        </p:txBody>
      </p:sp>
      <p:sp>
        <p:nvSpPr>
          <p:cNvPr id="13" name="Text 11"/>
          <p:cNvSpPr/>
          <p:nvPr/>
        </p:nvSpPr>
        <p:spPr>
          <a:xfrm>
            <a:off x="5778500" y="1492250"/>
            <a:ext cx="57687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A6B7A"/>
                </a:solidFill>
                <a:latin typeface="Public Sans" pitchFamily="34" charset="0"/>
                <a:ea typeface="Public Sans" pitchFamily="34" charset="-122"/>
                <a:cs typeface="Public Sans" pitchFamily="34" charset="-120"/>
              </a:rPr>
              <a:t>D1–D8 = decision points · bottom row reads right to left</a:t>
            </a:r>
            <a:endParaRPr lang="en-US" sz="1200" dirty="0"/>
          </a:p>
        </p:txBody>
      </p:sp>
      <p:sp>
        <p:nvSpPr>
          <p:cNvPr id="14" name="Shape 12"/>
          <p:cNvSpPr/>
          <p:nvPr/>
        </p:nvSpPr>
        <p:spPr>
          <a:xfrm>
            <a:off x="822325" y="1851025"/>
            <a:ext cx="1504950" cy="933450"/>
          </a:xfrm>
          <a:prstGeom prst="roundRect">
            <a:avLst>
              <a:gd name="adj" fmla="val 8503"/>
            </a:avLst>
          </a:prstGeom>
          <a:solidFill>
            <a:srgbClr val="E6EFF6"/>
          </a:solidFill>
          <a:ln w="19050">
            <a:solidFill>
              <a:srgbClr val="7F9DB5"/>
            </a:solidFill>
            <a:prstDash val="solid"/>
          </a:ln>
        </p:spPr>
      </p:sp>
      <p:sp>
        <p:nvSpPr>
          <p:cNvPr id="15" name="Text 13"/>
          <p:cNvSpPr/>
          <p:nvPr/>
        </p:nvSpPr>
        <p:spPr>
          <a:xfrm>
            <a:off x="908050" y="19240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E5F7A"/>
                </a:solidFill>
                <a:latin typeface="Public Sans" pitchFamily="34" charset="0"/>
                <a:ea typeface="Public Sans" pitchFamily="34" charset="-122"/>
                <a:cs typeface="Public Sans" pitchFamily="34" charset="-120"/>
              </a:rPr>
              <a:t>INPUT</a:t>
            </a:r>
            <a:endParaRPr lang="en-US" sz="1200" dirty="0"/>
          </a:p>
        </p:txBody>
      </p:sp>
      <p:sp>
        <p:nvSpPr>
          <p:cNvPr id="16" name="Text 14"/>
          <p:cNvSpPr/>
          <p:nvPr/>
        </p:nvSpPr>
        <p:spPr>
          <a:xfrm>
            <a:off x="908050" y="21627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304D"/>
                </a:solidFill>
                <a:latin typeface="Public Sans" pitchFamily="34" charset="0"/>
                <a:ea typeface="Public Sans" pitchFamily="34" charset="-122"/>
                <a:cs typeface="Public Sans" pitchFamily="34" charset="-120"/>
              </a:rPr>
              <a:t>Order received, drop spot chosen</a:t>
            </a:r>
            <a:endParaRPr lang="en-US" sz="1200" dirty="0"/>
          </a:p>
        </p:txBody>
      </p:sp>
      <p:sp>
        <p:nvSpPr>
          <p:cNvPr id="17" name="Shape 15"/>
          <p:cNvSpPr/>
          <p:nvPr/>
        </p:nvSpPr>
        <p:spPr>
          <a:xfrm>
            <a:off x="2632075" y="1851025"/>
            <a:ext cx="1504950" cy="933450"/>
          </a:xfrm>
          <a:prstGeom prst="roundRect">
            <a:avLst>
              <a:gd name="adj" fmla="val 8503"/>
            </a:avLst>
          </a:prstGeom>
          <a:solidFill>
            <a:srgbClr val="1F6B45"/>
          </a:solidFill>
          <a:ln w="19050">
            <a:solidFill>
              <a:srgbClr val="1F6B45"/>
            </a:solidFill>
            <a:prstDash val="solid"/>
          </a:ln>
        </p:spPr>
      </p:sp>
      <p:sp>
        <p:nvSpPr>
          <p:cNvPr id="18" name="Text 16"/>
          <p:cNvSpPr/>
          <p:nvPr/>
        </p:nvSpPr>
        <p:spPr>
          <a:xfrm>
            <a:off x="2717800" y="19240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FE8D9"/>
                </a:solidFill>
                <a:latin typeface="Public Sans" pitchFamily="34" charset="0"/>
                <a:ea typeface="Public Sans" pitchFamily="34" charset="-122"/>
                <a:cs typeface="Public Sans" pitchFamily="34" charset="-120"/>
              </a:rPr>
              <a:t>D1 · AI</a:t>
            </a:r>
            <a:endParaRPr lang="en-US" sz="1200" dirty="0"/>
          </a:p>
        </p:txBody>
      </p:sp>
      <p:sp>
        <p:nvSpPr>
          <p:cNvPr id="19" name="Text 17"/>
          <p:cNvSpPr/>
          <p:nvPr/>
        </p:nvSpPr>
        <p:spPr>
          <a:xfrm>
            <a:off x="2717800" y="21627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4F8F5"/>
                </a:solidFill>
                <a:latin typeface="Public Sans" pitchFamily="34" charset="0"/>
                <a:ea typeface="Public Sans" pitchFamily="34" charset="-122"/>
                <a:cs typeface="Public Sans" pitchFamily="34" charset="-120"/>
              </a:rPr>
              <a:t>Weight, range, spot OK?</a:t>
            </a:r>
            <a:endParaRPr lang="en-US" sz="1200" dirty="0"/>
          </a:p>
        </p:txBody>
      </p:sp>
      <p:sp>
        <p:nvSpPr>
          <p:cNvPr id="20" name="Shape 18"/>
          <p:cNvSpPr/>
          <p:nvPr/>
        </p:nvSpPr>
        <p:spPr>
          <a:xfrm>
            <a:off x="2628900" y="3003550"/>
            <a:ext cx="1511300" cy="495300"/>
          </a:xfrm>
          <a:prstGeom prst="roundRect">
            <a:avLst>
              <a:gd name="adj" fmla="val 16667"/>
            </a:avLst>
          </a:prstGeom>
          <a:solidFill>
            <a:srgbClr val="F1F4F6"/>
          </a:solidFill>
          <a:ln w="12700">
            <a:solidFill>
              <a:srgbClr val="8A9BA6"/>
            </a:solidFill>
            <a:prstDash val="dash"/>
          </a:ln>
        </p:spPr>
      </p:sp>
      <p:sp>
        <p:nvSpPr>
          <p:cNvPr id="21" name="Text 19"/>
          <p:cNvSpPr/>
          <p:nvPr/>
        </p:nvSpPr>
        <p:spPr>
          <a:xfrm>
            <a:off x="2724150" y="3060700"/>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3444F"/>
                </a:solidFill>
                <a:latin typeface="Public Sans" pitchFamily="34" charset="0"/>
                <a:ea typeface="Public Sans" pitchFamily="34" charset="-122"/>
                <a:cs typeface="Public Sans" pitchFamily="34" charset="-120"/>
              </a:rPr>
              <a:t>No:</a:t>
            </a:r>
            <a:r>
              <a:rPr lang="en-US" sz="1200" dirty="0">
                <a:solidFill>
                  <a:srgbClr val="33444F"/>
                </a:solidFill>
                <a:latin typeface="Public Sans" pitchFamily="34" charset="0"/>
                <a:ea typeface="Public Sans" pitchFamily="34" charset="-122"/>
                <a:cs typeface="Public Sans" pitchFamily="34" charset="-120"/>
              </a:rPr>
              <a:t> deliver by van</a:t>
            </a:r>
            <a:endParaRPr lang="en-US" sz="1200" dirty="0"/>
          </a:p>
        </p:txBody>
      </p:sp>
      <p:sp>
        <p:nvSpPr>
          <p:cNvPr id="22" name="Shape 20"/>
          <p:cNvSpPr/>
          <p:nvPr/>
        </p:nvSpPr>
        <p:spPr>
          <a:xfrm>
            <a:off x="4441825" y="1851025"/>
            <a:ext cx="1504950" cy="933450"/>
          </a:xfrm>
          <a:prstGeom prst="roundRect">
            <a:avLst>
              <a:gd name="adj" fmla="val 8503"/>
            </a:avLst>
          </a:prstGeom>
          <a:solidFill>
            <a:srgbClr val="FBE2CB"/>
          </a:solidFill>
          <a:ln w="19050">
            <a:solidFill>
              <a:srgbClr val="C8661A"/>
            </a:solidFill>
            <a:prstDash val="solid"/>
          </a:ln>
        </p:spPr>
      </p:sp>
      <p:sp>
        <p:nvSpPr>
          <p:cNvPr id="23" name="Text 21"/>
          <p:cNvSpPr/>
          <p:nvPr/>
        </p:nvSpPr>
        <p:spPr>
          <a:xfrm>
            <a:off x="4527550" y="19240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A410C"/>
                </a:solidFill>
                <a:latin typeface="Public Sans" pitchFamily="34" charset="0"/>
                <a:ea typeface="Public Sans" pitchFamily="34" charset="-122"/>
                <a:cs typeface="Public Sans" pitchFamily="34" charset="-120"/>
              </a:rPr>
              <a:t>PROCESS</a:t>
            </a:r>
            <a:endParaRPr lang="en-US" sz="1200" dirty="0"/>
          </a:p>
        </p:txBody>
      </p:sp>
      <p:sp>
        <p:nvSpPr>
          <p:cNvPr id="24" name="Text 22"/>
          <p:cNvSpPr/>
          <p:nvPr/>
        </p:nvSpPr>
        <p:spPr>
          <a:xfrm>
            <a:off x="4527550" y="21627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304D"/>
                </a:solidFill>
                <a:latin typeface="Public Sans" pitchFamily="34" charset="0"/>
                <a:ea typeface="Public Sans" pitchFamily="34" charset="-122"/>
                <a:cs typeface="Public Sans" pitchFamily="34" charset="-120"/>
              </a:rPr>
              <a:t>Associate picks &amp; packs order</a:t>
            </a:r>
            <a:endParaRPr lang="en-US" sz="1200" dirty="0"/>
          </a:p>
        </p:txBody>
      </p:sp>
      <p:sp>
        <p:nvSpPr>
          <p:cNvPr id="25" name="Shape 23"/>
          <p:cNvSpPr/>
          <p:nvPr/>
        </p:nvSpPr>
        <p:spPr>
          <a:xfrm>
            <a:off x="6245225" y="1851025"/>
            <a:ext cx="1504950" cy="933450"/>
          </a:xfrm>
          <a:prstGeom prst="roundRect">
            <a:avLst>
              <a:gd name="adj" fmla="val 8503"/>
            </a:avLst>
          </a:prstGeom>
          <a:solidFill>
            <a:srgbClr val="FBE2CB"/>
          </a:solidFill>
          <a:ln w="19050">
            <a:solidFill>
              <a:srgbClr val="C8661A"/>
            </a:solidFill>
            <a:prstDash val="solid"/>
          </a:ln>
        </p:spPr>
      </p:sp>
      <p:sp>
        <p:nvSpPr>
          <p:cNvPr id="26" name="Text 24"/>
          <p:cNvSpPr/>
          <p:nvPr/>
        </p:nvSpPr>
        <p:spPr>
          <a:xfrm>
            <a:off x="6330950" y="19240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A410C"/>
                </a:solidFill>
                <a:latin typeface="Public Sans" pitchFamily="34" charset="0"/>
                <a:ea typeface="Public Sans" pitchFamily="34" charset="-122"/>
                <a:cs typeface="Public Sans" pitchFamily="34" charset="-120"/>
              </a:rPr>
              <a:t>D2 · HUMAN</a:t>
            </a:r>
            <a:endParaRPr lang="en-US" sz="1200" dirty="0"/>
          </a:p>
        </p:txBody>
      </p:sp>
      <p:sp>
        <p:nvSpPr>
          <p:cNvPr id="27" name="Text 25"/>
          <p:cNvSpPr/>
          <p:nvPr/>
        </p:nvSpPr>
        <p:spPr>
          <a:xfrm>
            <a:off x="6330950" y="21627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304D"/>
                </a:solidFill>
                <a:latin typeface="Public Sans" pitchFamily="34" charset="0"/>
                <a:ea typeface="Public Sans" pitchFamily="34" charset="-122"/>
                <a:cs typeface="Public Sans" pitchFamily="34" charset="-120"/>
              </a:rPr>
              <a:t>Package secured &amp; balanced?</a:t>
            </a:r>
            <a:endParaRPr lang="en-US" sz="1200" dirty="0"/>
          </a:p>
        </p:txBody>
      </p:sp>
      <p:sp>
        <p:nvSpPr>
          <p:cNvPr id="28" name="Shape 26"/>
          <p:cNvSpPr/>
          <p:nvPr/>
        </p:nvSpPr>
        <p:spPr>
          <a:xfrm>
            <a:off x="6242050" y="3003550"/>
            <a:ext cx="1511300" cy="495300"/>
          </a:xfrm>
          <a:prstGeom prst="roundRect">
            <a:avLst>
              <a:gd name="adj" fmla="val 16667"/>
            </a:avLst>
          </a:prstGeom>
          <a:solidFill>
            <a:srgbClr val="F1F4F6"/>
          </a:solidFill>
          <a:ln w="12700">
            <a:solidFill>
              <a:srgbClr val="8A9BA6"/>
            </a:solidFill>
            <a:prstDash val="dash"/>
          </a:ln>
        </p:spPr>
      </p:sp>
      <p:sp>
        <p:nvSpPr>
          <p:cNvPr id="29" name="Text 27"/>
          <p:cNvSpPr/>
          <p:nvPr/>
        </p:nvSpPr>
        <p:spPr>
          <a:xfrm>
            <a:off x="6337300" y="3060700"/>
            <a:ext cx="137160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3444F"/>
                </a:solidFill>
                <a:latin typeface="Public Sans" pitchFamily="34" charset="0"/>
                <a:ea typeface="Public Sans" pitchFamily="34" charset="-122"/>
                <a:cs typeface="Public Sans" pitchFamily="34" charset="-120"/>
              </a:rPr>
              <a:t>No:</a:t>
            </a:r>
            <a:r>
              <a:rPr lang="en-US" sz="1200" dirty="0">
                <a:solidFill>
                  <a:srgbClr val="33444F"/>
                </a:solidFill>
                <a:latin typeface="Public Sans" pitchFamily="34" charset="0"/>
                <a:ea typeface="Public Sans" pitchFamily="34" charset="-122"/>
                <a:cs typeface="Public Sans" pitchFamily="34" charset="-120"/>
              </a:rPr>
              <a:t> repack and recheck</a:t>
            </a:r>
            <a:endParaRPr lang="en-US" sz="1200" dirty="0"/>
          </a:p>
        </p:txBody>
      </p:sp>
      <p:sp>
        <p:nvSpPr>
          <p:cNvPr id="30" name="Shape 28"/>
          <p:cNvSpPr/>
          <p:nvPr/>
        </p:nvSpPr>
        <p:spPr>
          <a:xfrm>
            <a:off x="8054975" y="1851025"/>
            <a:ext cx="1504950" cy="933450"/>
          </a:xfrm>
          <a:prstGeom prst="roundRect">
            <a:avLst>
              <a:gd name="adj" fmla="val 8503"/>
            </a:avLst>
          </a:prstGeom>
          <a:solidFill>
            <a:srgbClr val="1F6B45"/>
          </a:solidFill>
          <a:ln w="19050">
            <a:solidFill>
              <a:srgbClr val="1F6B45"/>
            </a:solidFill>
            <a:prstDash val="solid"/>
          </a:ln>
        </p:spPr>
      </p:sp>
      <p:sp>
        <p:nvSpPr>
          <p:cNvPr id="31" name="Text 29"/>
          <p:cNvSpPr/>
          <p:nvPr/>
        </p:nvSpPr>
        <p:spPr>
          <a:xfrm>
            <a:off x="8140700" y="19240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FE8D9"/>
                </a:solidFill>
                <a:latin typeface="Public Sans" pitchFamily="34" charset="0"/>
                <a:ea typeface="Public Sans" pitchFamily="34" charset="-122"/>
                <a:cs typeface="Public Sans" pitchFamily="34" charset="-120"/>
              </a:rPr>
              <a:t>D3 · AI</a:t>
            </a:r>
            <a:endParaRPr lang="en-US" sz="1200" dirty="0"/>
          </a:p>
        </p:txBody>
      </p:sp>
      <p:sp>
        <p:nvSpPr>
          <p:cNvPr id="32" name="Text 30"/>
          <p:cNvSpPr/>
          <p:nvPr/>
        </p:nvSpPr>
        <p:spPr>
          <a:xfrm>
            <a:off x="8140700" y="21627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4F8F5"/>
                </a:solidFill>
                <a:latin typeface="Public Sans" pitchFamily="34" charset="0"/>
                <a:ea typeface="Public Sans" pitchFamily="34" charset="-122"/>
                <a:cs typeface="Public Sans" pitchFamily="34" charset="-120"/>
              </a:rPr>
              <a:t>Safe to fly? Weather &amp; limits</a:t>
            </a:r>
            <a:endParaRPr lang="en-US" sz="1200" dirty="0"/>
          </a:p>
        </p:txBody>
      </p:sp>
      <p:sp>
        <p:nvSpPr>
          <p:cNvPr id="33" name="Shape 31"/>
          <p:cNvSpPr/>
          <p:nvPr/>
        </p:nvSpPr>
        <p:spPr>
          <a:xfrm>
            <a:off x="8051800" y="3003550"/>
            <a:ext cx="1511300" cy="495300"/>
          </a:xfrm>
          <a:prstGeom prst="roundRect">
            <a:avLst>
              <a:gd name="adj" fmla="val 16667"/>
            </a:avLst>
          </a:prstGeom>
          <a:solidFill>
            <a:srgbClr val="F1F4F6"/>
          </a:solidFill>
          <a:ln w="12700">
            <a:solidFill>
              <a:srgbClr val="8A9BA6"/>
            </a:solidFill>
            <a:prstDash val="dash"/>
          </a:ln>
        </p:spPr>
      </p:sp>
      <p:sp>
        <p:nvSpPr>
          <p:cNvPr id="34" name="Text 32"/>
          <p:cNvSpPr/>
          <p:nvPr/>
        </p:nvSpPr>
        <p:spPr>
          <a:xfrm>
            <a:off x="8147050" y="3060700"/>
            <a:ext cx="137160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3444F"/>
                </a:solidFill>
                <a:latin typeface="Public Sans" pitchFamily="34" charset="0"/>
                <a:ea typeface="Public Sans" pitchFamily="34" charset="-122"/>
                <a:cs typeface="Public Sans" pitchFamily="34" charset="-120"/>
              </a:rPr>
              <a:t>No:</a:t>
            </a:r>
            <a:r>
              <a:rPr lang="en-US" sz="1200" dirty="0">
                <a:solidFill>
                  <a:srgbClr val="33444F"/>
                </a:solidFill>
                <a:latin typeface="Public Sans" pitchFamily="34" charset="0"/>
                <a:ea typeface="Public Sans" pitchFamily="34" charset="-122"/>
                <a:cs typeface="Public Sans" pitchFamily="34" charset="-120"/>
              </a:rPr>
              <a:t> hold, or send by van</a:t>
            </a:r>
            <a:endParaRPr lang="en-US" sz="1200" dirty="0"/>
          </a:p>
        </p:txBody>
      </p:sp>
      <p:sp>
        <p:nvSpPr>
          <p:cNvPr id="35" name="Shape 33"/>
          <p:cNvSpPr/>
          <p:nvPr/>
        </p:nvSpPr>
        <p:spPr>
          <a:xfrm>
            <a:off x="9864725" y="1851025"/>
            <a:ext cx="1504950" cy="933450"/>
          </a:xfrm>
          <a:prstGeom prst="roundRect">
            <a:avLst>
              <a:gd name="adj" fmla="val 8503"/>
            </a:avLst>
          </a:prstGeom>
          <a:solidFill>
            <a:srgbClr val="1F6B45"/>
          </a:solidFill>
          <a:ln w="19050">
            <a:solidFill>
              <a:srgbClr val="1F6B45"/>
            </a:solidFill>
            <a:prstDash val="solid"/>
          </a:ln>
        </p:spPr>
      </p:sp>
      <p:sp>
        <p:nvSpPr>
          <p:cNvPr id="36" name="Text 34"/>
          <p:cNvSpPr/>
          <p:nvPr/>
        </p:nvSpPr>
        <p:spPr>
          <a:xfrm>
            <a:off x="9950450" y="19240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FE8D9"/>
                </a:solidFill>
                <a:latin typeface="Public Sans" pitchFamily="34" charset="0"/>
                <a:ea typeface="Public Sans" pitchFamily="34" charset="-122"/>
                <a:cs typeface="Public Sans" pitchFamily="34" charset="-120"/>
              </a:rPr>
              <a:t>D4 · AI</a:t>
            </a:r>
            <a:endParaRPr lang="en-US" sz="1200" dirty="0"/>
          </a:p>
        </p:txBody>
      </p:sp>
      <p:sp>
        <p:nvSpPr>
          <p:cNvPr id="37" name="Text 35"/>
          <p:cNvSpPr/>
          <p:nvPr/>
        </p:nvSpPr>
        <p:spPr>
          <a:xfrm>
            <a:off x="9950450" y="21627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4F8F5"/>
                </a:solidFill>
                <a:latin typeface="Public Sans" pitchFamily="34" charset="0"/>
                <a:ea typeface="Public Sans" pitchFamily="34" charset="-122"/>
                <a:cs typeface="Public Sans" pitchFamily="34" charset="-120"/>
              </a:rPr>
              <a:t>Route clear of other drones?</a:t>
            </a:r>
            <a:endParaRPr lang="en-US" sz="1200" dirty="0"/>
          </a:p>
        </p:txBody>
      </p:sp>
      <p:sp>
        <p:nvSpPr>
          <p:cNvPr id="38" name="Shape 36"/>
          <p:cNvSpPr/>
          <p:nvPr/>
        </p:nvSpPr>
        <p:spPr>
          <a:xfrm>
            <a:off x="9861550" y="3003550"/>
            <a:ext cx="1511300" cy="495300"/>
          </a:xfrm>
          <a:prstGeom prst="roundRect">
            <a:avLst>
              <a:gd name="adj" fmla="val 16667"/>
            </a:avLst>
          </a:prstGeom>
          <a:solidFill>
            <a:srgbClr val="F1F4F6"/>
          </a:solidFill>
          <a:ln w="12700">
            <a:solidFill>
              <a:srgbClr val="8A9BA6"/>
            </a:solidFill>
            <a:prstDash val="dash"/>
          </a:ln>
        </p:spPr>
      </p:sp>
      <p:sp>
        <p:nvSpPr>
          <p:cNvPr id="39" name="Text 37"/>
          <p:cNvSpPr/>
          <p:nvPr/>
        </p:nvSpPr>
        <p:spPr>
          <a:xfrm>
            <a:off x="9956800" y="3060700"/>
            <a:ext cx="137160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3444F"/>
                </a:solidFill>
                <a:latin typeface="Public Sans" pitchFamily="34" charset="0"/>
                <a:ea typeface="Public Sans" pitchFamily="34" charset="-122"/>
                <a:cs typeface="Public Sans" pitchFamily="34" charset="-120"/>
              </a:rPr>
              <a:t>No:</a:t>
            </a:r>
            <a:r>
              <a:rPr lang="en-US" sz="1200" dirty="0">
                <a:solidFill>
                  <a:srgbClr val="33444F"/>
                </a:solidFill>
                <a:latin typeface="Public Sans" pitchFamily="34" charset="0"/>
                <a:ea typeface="Public Sans" pitchFamily="34" charset="-122"/>
                <a:cs typeface="Public Sans" pitchFamily="34" charset="-120"/>
              </a:rPr>
              <a:t> reroute or delay</a:t>
            </a:r>
            <a:endParaRPr lang="en-US" sz="1200" dirty="0"/>
          </a:p>
        </p:txBody>
      </p:sp>
      <p:sp>
        <p:nvSpPr>
          <p:cNvPr id="40" name="Shape 38"/>
          <p:cNvSpPr/>
          <p:nvPr/>
        </p:nvSpPr>
        <p:spPr>
          <a:xfrm>
            <a:off x="9864725" y="3717925"/>
            <a:ext cx="1504950" cy="933450"/>
          </a:xfrm>
          <a:prstGeom prst="roundRect">
            <a:avLst>
              <a:gd name="adj" fmla="val 8503"/>
            </a:avLst>
          </a:prstGeom>
          <a:solidFill>
            <a:srgbClr val="1F6B45"/>
          </a:solidFill>
          <a:ln w="19050">
            <a:solidFill>
              <a:srgbClr val="1F6B45"/>
            </a:solidFill>
            <a:prstDash val="solid"/>
          </a:ln>
        </p:spPr>
      </p:sp>
      <p:sp>
        <p:nvSpPr>
          <p:cNvPr id="41" name="Text 39"/>
          <p:cNvSpPr/>
          <p:nvPr/>
        </p:nvSpPr>
        <p:spPr>
          <a:xfrm>
            <a:off x="9950450" y="37909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FE8D9"/>
                </a:solidFill>
                <a:latin typeface="Public Sans" pitchFamily="34" charset="0"/>
                <a:ea typeface="Public Sans" pitchFamily="34" charset="-122"/>
                <a:cs typeface="Public Sans" pitchFamily="34" charset="-120"/>
              </a:rPr>
              <a:t>ACTION</a:t>
            </a:r>
            <a:endParaRPr lang="en-US" sz="1200" dirty="0"/>
          </a:p>
        </p:txBody>
      </p:sp>
      <p:sp>
        <p:nvSpPr>
          <p:cNvPr id="42" name="Text 40"/>
          <p:cNvSpPr/>
          <p:nvPr/>
        </p:nvSpPr>
        <p:spPr>
          <a:xfrm>
            <a:off x="9950450" y="40296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4F8F5"/>
                </a:solidFill>
                <a:latin typeface="Public Sans" pitchFamily="34" charset="0"/>
                <a:ea typeface="Public Sans" pitchFamily="34" charset="-122"/>
                <a:cs typeface="Public Sans" pitchFamily="34" charset="-120"/>
              </a:rPr>
              <a:t>Drone launches on its route</a:t>
            </a:r>
            <a:endParaRPr lang="en-US" sz="1200" dirty="0"/>
          </a:p>
        </p:txBody>
      </p:sp>
      <p:sp>
        <p:nvSpPr>
          <p:cNvPr id="43" name="Shape 41"/>
          <p:cNvSpPr/>
          <p:nvPr/>
        </p:nvSpPr>
        <p:spPr>
          <a:xfrm>
            <a:off x="9864725" y="4873625"/>
            <a:ext cx="1504950" cy="933450"/>
          </a:xfrm>
          <a:prstGeom prst="roundRect">
            <a:avLst>
              <a:gd name="adj" fmla="val 8503"/>
            </a:avLst>
          </a:prstGeom>
          <a:solidFill>
            <a:srgbClr val="FBE2CB"/>
          </a:solidFill>
          <a:ln w="19050">
            <a:solidFill>
              <a:srgbClr val="C8661A"/>
            </a:solidFill>
            <a:prstDash val="dash"/>
          </a:ln>
        </p:spPr>
      </p:sp>
      <p:sp>
        <p:nvSpPr>
          <p:cNvPr id="44" name="Text 42"/>
          <p:cNvSpPr/>
          <p:nvPr/>
        </p:nvSpPr>
        <p:spPr>
          <a:xfrm>
            <a:off x="9950450" y="49466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A410C"/>
                </a:solidFill>
                <a:latin typeface="Public Sans" pitchFamily="34" charset="0"/>
                <a:ea typeface="Public Sans" pitchFamily="34" charset="-122"/>
                <a:cs typeface="Public Sans" pitchFamily="34" charset="-120"/>
              </a:rPr>
              <a:t>OVERSIGHT</a:t>
            </a:r>
            <a:endParaRPr lang="en-US" sz="1200" dirty="0"/>
          </a:p>
        </p:txBody>
      </p:sp>
      <p:sp>
        <p:nvSpPr>
          <p:cNvPr id="45" name="Text 43"/>
          <p:cNvSpPr/>
          <p:nvPr/>
        </p:nvSpPr>
        <p:spPr>
          <a:xfrm>
            <a:off x="9950450" y="51853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304D"/>
                </a:solidFill>
                <a:latin typeface="Public Sans" pitchFamily="34" charset="0"/>
                <a:ea typeface="Public Sans" pitchFamily="34" charset="-122"/>
                <a:cs typeface="Public Sans" pitchFamily="34" charset="-120"/>
              </a:rPr>
              <a:t>Operator can take over any flight</a:t>
            </a:r>
            <a:endParaRPr lang="en-US" sz="1200" dirty="0"/>
          </a:p>
        </p:txBody>
      </p:sp>
      <p:sp>
        <p:nvSpPr>
          <p:cNvPr id="46" name="Shape 44"/>
          <p:cNvSpPr/>
          <p:nvPr/>
        </p:nvSpPr>
        <p:spPr>
          <a:xfrm>
            <a:off x="8054975" y="3717925"/>
            <a:ext cx="1504950" cy="933450"/>
          </a:xfrm>
          <a:prstGeom prst="roundRect">
            <a:avLst>
              <a:gd name="adj" fmla="val 8503"/>
            </a:avLst>
          </a:prstGeom>
          <a:solidFill>
            <a:srgbClr val="1F6B45"/>
          </a:solidFill>
          <a:ln w="19050">
            <a:solidFill>
              <a:srgbClr val="1F6B45"/>
            </a:solidFill>
            <a:prstDash val="solid"/>
          </a:ln>
        </p:spPr>
      </p:sp>
      <p:sp>
        <p:nvSpPr>
          <p:cNvPr id="47" name="Text 45"/>
          <p:cNvSpPr/>
          <p:nvPr/>
        </p:nvSpPr>
        <p:spPr>
          <a:xfrm>
            <a:off x="8140700" y="37909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FE8D9"/>
                </a:solidFill>
                <a:latin typeface="Public Sans" pitchFamily="34" charset="0"/>
                <a:ea typeface="Public Sans" pitchFamily="34" charset="-122"/>
                <a:cs typeface="Public Sans" pitchFamily="34" charset="-120"/>
              </a:rPr>
              <a:t>D5 · AI</a:t>
            </a:r>
            <a:endParaRPr lang="en-US" sz="1200" dirty="0"/>
          </a:p>
        </p:txBody>
      </p:sp>
      <p:sp>
        <p:nvSpPr>
          <p:cNvPr id="48" name="Text 46"/>
          <p:cNvSpPr/>
          <p:nvPr/>
        </p:nvSpPr>
        <p:spPr>
          <a:xfrm>
            <a:off x="8140700" y="40296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4F8F5"/>
                </a:solidFill>
                <a:latin typeface="Public Sans" pitchFamily="34" charset="0"/>
                <a:ea typeface="Public Sans" pitchFamily="34" charset="-122"/>
                <a:cs typeface="Public Sans" pitchFamily="34" charset="-120"/>
              </a:rPr>
              <a:t>Is the drop zone clear?</a:t>
            </a:r>
            <a:endParaRPr lang="en-US" sz="1200" dirty="0"/>
          </a:p>
        </p:txBody>
      </p:sp>
      <p:sp>
        <p:nvSpPr>
          <p:cNvPr id="49" name="Shape 47"/>
          <p:cNvSpPr/>
          <p:nvPr/>
        </p:nvSpPr>
        <p:spPr>
          <a:xfrm>
            <a:off x="8054975" y="4873625"/>
            <a:ext cx="1504950" cy="933450"/>
          </a:xfrm>
          <a:prstGeom prst="roundRect">
            <a:avLst>
              <a:gd name="adj" fmla="val 8503"/>
            </a:avLst>
          </a:prstGeom>
          <a:solidFill>
            <a:srgbClr val="FBE2CB"/>
          </a:solidFill>
          <a:ln w="19050">
            <a:solidFill>
              <a:srgbClr val="C8661A"/>
            </a:solidFill>
            <a:prstDash val="solid"/>
          </a:ln>
        </p:spPr>
      </p:sp>
      <p:sp>
        <p:nvSpPr>
          <p:cNvPr id="50" name="Text 48"/>
          <p:cNvSpPr/>
          <p:nvPr/>
        </p:nvSpPr>
        <p:spPr>
          <a:xfrm>
            <a:off x="8140700" y="49466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A410C"/>
                </a:solidFill>
                <a:latin typeface="Public Sans" pitchFamily="34" charset="0"/>
                <a:ea typeface="Public Sans" pitchFamily="34" charset="-122"/>
                <a:cs typeface="Public Sans" pitchFamily="34" charset="-120"/>
              </a:rPr>
              <a:t>D6 · HUMAN</a:t>
            </a:r>
            <a:endParaRPr lang="en-US" sz="1200" dirty="0"/>
          </a:p>
        </p:txBody>
      </p:sp>
      <p:sp>
        <p:nvSpPr>
          <p:cNvPr id="51" name="Text 49"/>
          <p:cNvSpPr/>
          <p:nvPr/>
        </p:nvSpPr>
        <p:spPr>
          <a:xfrm>
            <a:off x="8140700" y="5185370"/>
            <a:ext cx="13843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304D"/>
                </a:solidFill>
                <a:latin typeface="Public Sans" pitchFamily="34" charset="0"/>
                <a:ea typeface="Public Sans" pitchFamily="34" charset="-122"/>
                <a:cs typeface="Public Sans" pitchFamily="34" charset="-120"/>
              </a:rPr>
              <a:t>Go, retry, or abort?</a:t>
            </a:r>
            <a:endParaRPr lang="en-US" sz="1200" dirty="0"/>
          </a:p>
        </p:txBody>
      </p:sp>
      <p:sp>
        <p:nvSpPr>
          <p:cNvPr id="52" name="Shape 50"/>
          <p:cNvSpPr/>
          <p:nvPr/>
        </p:nvSpPr>
        <p:spPr>
          <a:xfrm>
            <a:off x="6245225" y="3717925"/>
            <a:ext cx="1504950" cy="933450"/>
          </a:xfrm>
          <a:prstGeom prst="roundRect">
            <a:avLst>
              <a:gd name="adj" fmla="val 8503"/>
            </a:avLst>
          </a:prstGeom>
          <a:solidFill>
            <a:srgbClr val="E6EFF6"/>
          </a:solidFill>
          <a:ln w="19050">
            <a:solidFill>
              <a:srgbClr val="7F9DB5"/>
            </a:solidFill>
            <a:prstDash val="solid"/>
          </a:ln>
        </p:spPr>
      </p:sp>
      <p:sp>
        <p:nvSpPr>
          <p:cNvPr id="53" name="Text 51"/>
          <p:cNvSpPr/>
          <p:nvPr/>
        </p:nvSpPr>
        <p:spPr>
          <a:xfrm>
            <a:off x="6330950" y="37909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E5F7A"/>
                </a:solidFill>
                <a:latin typeface="Public Sans" pitchFamily="34" charset="0"/>
                <a:ea typeface="Public Sans" pitchFamily="34" charset="-122"/>
                <a:cs typeface="Public Sans" pitchFamily="34" charset="-120"/>
              </a:rPr>
              <a:t>ACTION</a:t>
            </a:r>
            <a:endParaRPr lang="en-US" sz="1200" dirty="0"/>
          </a:p>
        </p:txBody>
      </p:sp>
      <p:sp>
        <p:nvSpPr>
          <p:cNvPr id="54" name="Text 52"/>
          <p:cNvSpPr/>
          <p:nvPr/>
        </p:nvSpPr>
        <p:spPr>
          <a:xfrm>
            <a:off x="6330950" y="40296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304D"/>
                </a:solidFill>
                <a:latin typeface="Public Sans" pitchFamily="34" charset="0"/>
                <a:ea typeface="Public Sans" pitchFamily="34" charset="-122"/>
                <a:cs typeface="Public Sans" pitchFamily="34" charset="-120"/>
              </a:rPr>
              <a:t>Lowered on tether, photo taken</a:t>
            </a:r>
            <a:endParaRPr lang="en-US" sz="1200" dirty="0"/>
          </a:p>
        </p:txBody>
      </p:sp>
      <p:sp>
        <p:nvSpPr>
          <p:cNvPr id="55" name="Shape 53"/>
          <p:cNvSpPr/>
          <p:nvPr/>
        </p:nvSpPr>
        <p:spPr>
          <a:xfrm>
            <a:off x="4441825" y="3717925"/>
            <a:ext cx="1504950" cy="933450"/>
          </a:xfrm>
          <a:prstGeom prst="roundRect">
            <a:avLst>
              <a:gd name="adj" fmla="val 8503"/>
            </a:avLst>
          </a:prstGeom>
          <a:solidFill>
            <a:srgbClr val="1F6B45"/>
          </a:solidFill>
          <a:ln w="19050">
            <a:solidFill>
              <a:srgbClr val="1F6B45"/>
            </a:solidFill>
            <a:prstDash val="solid"/>
          </a:ln>
        </p:spPr>
      </p:sp>
      <p:sp>
        <p:nvSpPr>
          <p:cNvPr id="56" name="Text 54"/>
          <p:cNvSpPr/>
          <p:nvPr/>
        </p:nvSpPr>
        <p:spPr>
          <a:xfrm>
            <a:off x="4527550" y="37909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FE8D9"/>
                </a:solidFill>
                <a:latin typeface="Public Sans" pitchFamily="34" charset="0"/>
                <a:ea typeface="Public Sans" pitchFamily="34" charset="-122"/>
                <a:cs typeface="Public Sans" pitchFamily="34" charset="-120"/>
              </a:rPr>
              <a:t>D7 · AI</a:t>
            </a:r>
            <a:endParaRPr lang="en-US" sz="1200" dirty="0"/>
          </a:p>
        </p:txBody>
      </p:sp>
      <p:sp>
        <p:nvSpPr>
          <p:cNvPr id="57" name="Text 55"/>
          <p:cNvSpPr/>
          <p:nvPr/>
        </p:nvSpPr>
        <p:spPr>
          <a:xfrm>
            <a:off x="4527550" y="40296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4F8F5"/>
                </a:solidFill>
                <a:latin typeface="Public Sans" pitchFamily="34" charset="0"/>
                <a:ea typeface="Public Sans" pitchFamily="34" charset="-122"/>
                <a:cs typeface="Public Sans" pitchFamily="34" charset="-120"/>
              </a:rPr>
              <a:t>Clean drop on the chosen spot?</a:t>
            </a:r>
            <a:endParaRPr lang="en-US" sz="1200" dirty="0"/>
          </a:p>
        </p:txBody>
      </p:sp>
      <p:sp>
        <p:nvSpPr>
          <p:cNvPr id="58" name="Shape 56"/>
          <p:cNvSpPr/>
          <p:nvPr/>
        </p:nvSpPr>
        <p:spPr>
          <a:xfrm>
            <a:off x="4441825" y="4873625"/>
            <a:ext cx="1504950" cy="933450"/>
          </a:xfrm>
          <a:prstGeom prst="roundRect">
            <a:avLst>
              <a:gd name="adj" fmla="val 8503"/>
            </a:avLst>
          </a:prstGeom>
          <a:solidFill>
            <a:srgbClr val="FBE2CB"/>
          </a:solidFill>
          <a:ln w="19050">
            <a:solidFill>
              <a:srgbClr val="C8661A"/>
            </a:solidFill>
            <a:prstDash val="solid"/>
          </a:ln>
        </p:spPr>
      </p:sp>
      <p:sp>
        <p:nvSpPr>
          <p:cNvPr id="59" name="Text 57"/>
          <p:cNvSpPr/>
          <p:nvPr/>
        </p:nvSpPr>
        <p:spPr>
          <a:xfrm>
            <a:off x="4527550" y="49466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A410C"/>
                </a:solidFill>
                <a:latin typeface="Public Sans" pitchFamily="34" charset="0"/>
                <a:ea typeface="Public Sans" pitchFamily="34" charset="-122"/>
                <a:cs typeface="Public Sans" pitchFamily="34" charset="-120"/>
              </a:rPr>
              <a:t>D8 · HUMAN</a:t>
            </a:r>
            <a:endParaRPr lang="en-US" sz="1200" dirty="0"/>
          </a:p>
        </p:txBody>
      </p:sp>
      <p:sp>
        <p:nvSpPr>
          <p:cNvPr id="60" name="Text 58"/>
          <p:cNvSpPr/>
          <p:nvPr/>
        </p:nvSpPr>
        <p:spPr>
          <a:xfrm>
            <a:off x="4527550" y="51853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304D"/>
                </a:solidFill>
                <a:latin typeface="Public Sans" pitchFamily="34" charset="0"/>
                <a:ea typeface="Public Sans" pitchFamily="34" charset="-122"/>
                <a:cs typeface="Public Sans" pitchFamily="34" charset="-120"/>
              </a:rPr>
              <a:t>Refund, redeliver, or recover?</a:t>
            </a:r>
            <a:endParaRPr lang="en-US" sz="1200" dirty="0"/>
          </a:p>
        </p:txBody>
      </p:sp>
      <p:sp>
        <p:nvSpPr>
          <p:cNvPr id="61" name="Shape 59"/>
          <p:cNvSpPr/>
          <p:nvPr/>
        </p:nvSpPr>
        <p:spPr>
          <a:xfrm>
            <a:off x="2632075" y="3717925"/>
            <a:ext cx="1504950" cy="933450"/>
          </a:xfrm>
          <a:prstGeom prst="roundRect">
            <a:avLst>
              <a:gd name="adj" fmla="val 8503"/>
            </a:avLst>
          </a:prstGeom>
          <a:solidFill>
            <a:srgbClr val="1F6B45"/>
          </a:solidFill>
          <a:ln w="19050">
            <a:solidFill>
              <a:srgbClr val="1F6B45"/>
            </a:solidFill>
            <a:prstDash val="solid"/>
          </a:ln>
        </p:spPr>
      </p:sp>
      <p:sp>
        <p:nvSpPr>
          <p:cNvPr id="62" name="Text 60"/>
          <p:cNvSpPr/>
          <p:nvPr/>
        </p:nvSpPr>
        <p:spPr>
          <a:xfrm>
            <a:off x="2717800" y="37909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FE8D9"/>
                </a:solidFill>
                <a:latin typeface="Public Sans" pitchFamily="34" charset="0"/>
                <a:ea typeface="Public Sans" pitchFamily="34" charset="-122"/>
                <a:cs typeface="Public Sans" pitchFamily="34" charset="-120"/>
              </a:rPr>
              <a:t>ACTION</a:t>
            </a:r>
            <a:endParaRPr lang="en-US" sz="1200" dirty="0"/>
          </a:p>
        </p:txBody>
      </p:sp>
      <p:sp>
        <p:nvSpPr>
          <p:cNvPr id="63" name="Text 61"/>
          <p:cNvSpPr/>
          <p:nvPr/>
        </p:nvSpPr>
        <p:spPr>
          <a:xfrm>
            <a:off x="2717800" y="40296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4F8F5"/>
                </a:solidFill>
                <a:latin typeface="Public Sans" pitchFamily="34" charset="0"/>
                <a:ea typeface="Public Sans" pitchFamily="34" charset="-122"/>
                <a:cs typeface="Public Sans" pitchFamily="34" charset="-120"/>
              </a:rPr>
              <a:t>Drone flies back to recharge</a:t>
            </a:r>
            <a:endParaRPr lang="en-US" sz="1200" dirty="0"/>
          </a:p>
        </p:txBody>
      </p:sp>
      <p:sp>
        <p:nvSpPr>
          <p:cNvPr id="64" name="Shape 62"/>
          <p:cNvSpPr/>
          <p:nvPr/>
        </p:nvSpPr>
        <p:spPr>
          <a:xfrm>
            <a:off x="822325" y="3717925"/>
            <a:ext cx="1504950" cy="933450"/>
          </a:xfrm>
          <a:prstGeom prst="roundRect">
            <a:avLst>
              <a:gd name="adj" fmla="val 8503"/>
            </a:avLst>
          </a:prstGeom>
          <a:solidFill>
            <a:srgbClr val="E6EFF6"/>
          </a:solidFill>
          <a:ln w="19050">
            <a:solidFill>
              <a:srgbClr val="7F9DB5"/>
            </a:solidFill>
            <a:prstDash val="solid"/>
          </a:ln>
        </p:spPr>
      </p:sp>
      <p:sp>
        <p:nvSpPr>
          <p:cNvPr id="65" name="Text 63"/>
          <p:cNvSpPr/>
          <p:nvPr/>
        </p:nvSpPr>
        <p:spPr>
          <a:xfrm>
            <a:off x="908050" y="3790950"/>
            <a:ext cx="13843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E5F7A"/>
                </a:solidFill>
                <a:latin typeface="Public Sans" pitchFamily="34" charset="0"/>
                <a:ea typeface="Public Sans" pitchFamily="34" charset="-122"/>
                <a:cs typeface="Public Sans" pitchFamily="34" charset="-120"/>
              </a:rPr>
              <a:t>OUTCOME</a:t>
            </a:r>
            <a:endParaRPr lang="en-US" sz="1200" dirty="0"/>
          </a:p>
        </p:txBody>
      </p:sp>
      <p:sp>
        <p:nvSpPr>
          <p:cNvPr id="66" name="Text 64"/>
          <p:cNvSpPr/>
          <p:nvPr/>
        </p:nvSpPr>
        <p:spPr>
          <a:xfrm>
            <a:off x="908050" y="4029670"/>
            <a:ext cx="1384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304D"/>
                </a:solidFill>
                <a:latin typeface="Public Sans" pitchFamily="34" charset="0"/>
                <a:ea typeface="Public Sans" pitchFamily="34" charset="-122"/>
                <a:cs typeface="Public Sans" pitchFamily="34" charset="-120"/>
              </a:rPr>
              <a:t>Delivered to the correct zone</a:t>
            </a:r>
            <a:endParaRPr lang="en-US" sz="1200" dirty="0"/>
          </a:p>
        </p:txBody>
      </p:sp>
      <p:sp>
        <p:nvSpPr>
          <p:cNvPr id="67" name="Shape 65"/>
          <p:cNvSpPr/>
          <p:nvPr/>
        </p:nvSpPr>
        <p:spPr>
          <a:xfrm>
            <a:off x="819150" y="4870450"/>
            <a:ext cx="3321050" cy="848320"/>
          </a:xfrm>
          <a:prstGeom prst="roundRect">
            <a:avLst>
              <a:gd name="adj" fmla="val 9731"/>
            </a:avLst>
          </a:prstGeom>
          <a:solidFill>
            <a:srgbClr val="EAF1F6"/>
          </a:solidFill>
          <a:ln w="12700">
            <a:solidFill>
              <a:srgbClr val="D5DDE2"/>
            </a:solidFill>
            <a:prstDash val="solid"/>
          </a:ln>
        </p:spPr>
      </p:sp>
      <p:sp>
        <p:nvSpPr>
          <p:cNvPr id="68" name="Text 66"/>
          <p:cNvSpPr/>
          <p:nvPr/>
        </p:nvSpPr>
        <p:spPr>
          <a:xfrm>
            <a:off x="952500" y="4978400"/>
            <a:ext cx="314598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304D"/>
                </a:solidFill>
                <a:latin typeface="Public Sans" pitchFamily="34" charset="0"/>
                <a:ea typeface="Public Sans" pitchFamily="34" charset="-122"/>
                <a:cs typeface="Public Sans" pitchFamily="34" charset="-120"/>
              </a:rPr>
              <a:t>Key design principle</a:t>
            </a:r>
            <a:endParaRPr lang="en-US" sz="1200" dirty="0"/>
          </a:p>
        </p:txBody>
      </p:sp>
      <p:sp>
        <p:nvSpPr>
          <p:cNvPr id="69" name="Text 67"/>
          <p:cNvSpPr/>
          <p:nvPr/>
        </p:nvSpPr>
        <p:spPr>
          <a:xfrm>
            <a:off x="952500" y="5229820"/>
            <a:ext cx="3145981"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3444F"/>
                </a:solidFill>
                <a:latin typeface="Public Sans" pitchFamily="34" charset="0"/>
                <a:ea typeface="Public Sans" pitchFamily="34" charset="-122"/>
                <a:cs typeface="Public Sans" pitchFamily="34" charset="-120"/>
              </a:rPr>
              <a:t>Automate repeatable signals; escalate ambiguous, high-stakes decisions.</a:t>
            </a:r>
            <a:endParaRPr lang="en-US" sz="1200" dirty="0"/>
          </a:p>
        </p:txBody>
      </p:sp>
      <p:pic>
        <p:nvPicPr>
          <p:cNvPr id="70" name="Image 0" descr="connector">    </p:cNvPr>
          <p:cNvPicPr>
            <a:picLocks noChangeAspect="1"/>
          </p:cNvPicPr>
          <p:nvPr/>
        </p:nvPicPr>
        <p:blipFill>
          <a:blip r:embed="rId1"/>
          <a:srcRect l="0" r="0" t="0" b="0"/>
          <a:stretch/>
        </p:blipFill>
        <p:spPr>
          <a:xfrm>
            <a:off x="2286000" y="2266950"/>
            <a:ext cx="387350" cy="101600"/>
          </a:xfrm>
          <a:prstGeom prst="rect">
            <a:avLst/>
          </a:prstGeom>
        </p:spPr>
      </p:pic>
      <p:pic>
        <p:nvPicPr>
          <p:cNvPr id="71" name="Image 1" descr="connector">    </p:cNvPr>
          <p:cNvPicPr>
            <a:picLocks noChangeAspect="1"/>
          </p:cNvPicPr>
          <p:nvPr/>
        </p:nvPicPr>
        <p:blipFill>
          <a:blip r:embed="rId2"/>
          <a:srcRect l="0" r="0" t="0" b="0"/>
          <a:stretch/>
        </p:blipFill>
        <p:spPr>
          <a:xfrm>
            <a:off x="4095750" y="2266950"/>
            <a:ext cx="387350" cy="101600"/>
          </a:xfrm>
          <a:prstGeom prst="rect">
            <a:avLst/>
          </a:prstGeom>
        </p:spPr>
      </p:pic>
      <p:pic>
        <p:nvPicPr>
          <p:cNvPr id="72" name="Image 2" descr="connector">    </p:cNvPr>
          <p:cNvPicPr>
            <a:picLocks noChangeAspect="1"/>
          </p:cNvPicPr>
          <p:nvPr/>
        </p:nvPicPr>
        <p:blipFill>
          <a:blip r:embed="rId3"/>
          <a:srcRect l="0" r="0" t="0" b="0"/>
          <a:stretch/>
        </p:blipFill>
        <p:spPr>
          <a:xfrm>
            <a:off x="5905500" y="2266950"/>
            <a:ext cx="381000" cy="101600"/>
          </a:xfrm>
          <a:prstGeom prst="rect">
            <a:avLst/>
          </a:prstGeom>
        </p:spPr>
      </p:pic>
      <p:pic>
        <p:nvPicPr>
          <p:cNvPr id="73" name="Image 3" descr="connector">    </p:cNvPr>
          <p:cNvPicPr>
            <a:picLocks noChangeAspect="1"/>
          </p:cNvPicPr>
          <p:nvPr/>
        </p:nvPicPr>
        <p:blipFill>
          <a:blip r:embed="rId4"/>
          <a:srcRect l="0" r="0" t="0" b="0"/>
          <a:stretch/>
        </p:blipFill>
        <p:spPr>
          <a:xfrm>
            <a:off x="7708900" y="2266950"/>
            <a:ext cx="387350" cy="101600"/>
          </a:xfrm>
          <a:prstGeom prst="rect">
            <a:avLst/>
          </a:prstGeom>
        </p:spPr>
      </p:pic>
      <p:pic>
        <p:nvPicPr>
          <p:cNvPr id="74" name="Image 4" descr="connector">    </p:cNvPr>
          <p:cNvPicPr>
            <a:picLocks noChangeAspect="1"/>
          </p:cNvPicPr>
          <p:nvPr/>
        </p:nvPicPr>
        <p:blipFill>
          <a:blip r:embed="rId5"/>
          <a:srcRect l="0" r="0" t="0" b="0"/>
          <a:stretch/>
        </p:blipFill>
        <p:spPr>
          <a:xfrm>
            <a:off x="9518650" y="2266950"/>
            <a:ext cx="387350" cy="101600"/>
          </a:xfrm>
          <a:prstGeom prst="rect">
            <a:avLst/>
          </a:prstGeom>
        </p:spPr>
      </p:pic>
      <p:pic>
        <p:nvPicPr>
          <p:cNvPr id="75" name="Image 5" descr="connector">    </p:cNvPr>
          <p:cNvPicPr>
            <a:picLocks noChangeAspect="1"/>
          </p:cNvPicPr>
          <p:nvPr/>
        </p:nvPicPr>
        <p:blipFill>
          <a:blip r:embed="rId6"/>
          <a:srcRect l="0" r="0" t="0" b="0"/>
          <a:stretch/>
        </p:blipFill>
        <p:spPr>
          <a:xfrm>
            <a:off x="3333750" y="2743200"/>
            <a:ext cx="101600" cy="304800"/>
          </a:xfrm>
          <a:prstGeom prst="rect">
            <a:avLst/>
          </a:prstGeom>
        </p:spPr>
      </p:pic>
      <p:pic>
        <p:nvPicPr>
          <p:cNvPr id="76" name="Image 6" descr="connector">    </p:cNvPr>
          <p:cNvPicPr>
            <a:picLocks noChangeAspect="1"/>
          </p:cNvPicPr>
          <p:nvPr/>
        </p:nvPicPr>
        <p:blipFill>
          <a:blip r:embed="rId7"/>
          <a:srcRect l="0" r="0" t="0" b="0"/>
          <a:stretch/>
        </p:blipFill>
        <p:spPr>
          <a:xfrm>
            <a:off x="6946900" y="2743200"/>
            <a:ext cx="101600" cy="304800"/>
          </a:xfrm>
          <a:prstGeom prst="rect">
            <a:avLst/>
          </a:prstGeom>
        </p:spPr>
      </p:pic>
      <p:pic>
        <p:nvPicPr>
          <p:cNvPr id="77" name="Image 7" descr="connector">    </p:cNvPr>
          <p:cNvPicPr>
            <a:picLocks noChangeAspect="1"/>
          </p:cNvPicPr>
          <p:nvPr/>
        </p:nvPicPr>
        <p:blipFill>
          <a:blip r:embed="rId8"/>
          <a:srcRect l="0" r="0" t="0" b="0"/>
          <a:stretch/>
        </p:blipFill>
        <p:spPr>
          <a:xfrm>
            <a:off x="8756650" y="2743200"/>
            <a:ext cx="101600" cy="304800"/>
          </a:xfrm>
          <a:prstGeom prst="rect">
            <a:avLst/>
          </a:prstGeom>
        </p:spPr>
      </p:pic>
      <p:pic>
        <p:nvPicPr>
          <p:cNvPr id="78" name="Image 8" descr="connector">    </p:cNvPr>
          <p:cNvPicPr>
            <a:picLocks noChangeAspect="1"/>
          </p:cNvPicPr>
          <p:nvPr/>
        </p:nvPicPr>
        <p:blipFill>
          <a:blip r:embed="rId9"/>
          <a:srcRect l="0" r="0" t="0" b="0"/>
          <a:stretch/>
        </p:blipFill>
        <p:spPr>
          <a:xfrm>
            <a:off x="10566400" y="2743200"/>
            <a:ext cx="101600" cy="304800"/>
          </a:xfrm>
          <a:prstGeom prst="rect">
            <a:avLst/>
          </a:prstGeom>
        </p:spPr>
      </p:pic>
      <p:pic>
        <p:nvPicPr>
          <p:cNvPr id="79" name="Image 9" descr="connector">    </p:cNvPr>
          <p:cNvPicPr>
            <a:picLocks noChangeAspect="1"/>
          </p:cNvPicPr>
          <p:nvPr/>
        </p:nvPicPr>
        <p:blipFill>
          <a:blip r:embed="rId10"/>
          <a:srcRect l="0" r="0" t="0" b="0"/>
          <a:stretch/>
        </p:blipFill>
        <p:spPr>
          <a:xfrm>
            <a:off x="11328400" y="2266950"/>
            <a:ext cx="406400" cy="101600"/>
          </a:xfrm>
          <a:prstGeom prst="rect">
            <a:avLst/>
          </a:prstGeom>
        </p:spPr>
      </p:pic>
      <p:pic>
        <p:nvPicPr>
          <p:cNvPr id="80" name="Image 10" descr="connector">    </p:cNvPr>
          <p:cNvPicPr>
            <a:picLocks noChangeAspect="1"/>
          </p:cNvPicPr>
          <p:nvPr/>
        </p:nvPicPr>
        <p:blipFill>
          <a:blip r:embed="rId11"/>
          <a:srcRect l="0" r="0" t="0" b="0"/>
          <a:stretch/>
        </p:blipFill>
        <p:spPr>
          <a:xfrm>
            <a:off x="11633200" y="2266950"/>
            <a:ext cx="101600" cy="1968500"/>
          </a:xfrm>
          <a:prstGeom prst="rect">
            <a:avLst/>
          </a:prstGeom>
        </p:spPr>
      </p:pic>
      <p:pic>
        <p:nvPicPr>
          <p:cNvPr id="81" name="Image 11" descr="connector">    </p:cNvPr>
          <p:cNvPicPr>
            <a:picLocks noChangeAspect="1"/>
          </p:cNvPicPr>
          <p:nvPr/>
        </p:nvPicPr>
        <p:blipFill>
          <a:blip r:embed="rId12"/>
          <a:srcRect l="0" r="0" t="0" b="0"/>
          <a:stretch/>
        </p:blipFill>
        <p:spPr>
          <a:xfrm>
            <a:off x="11328400" y="4133850"/>
            <a:ext cx="406400" cy="101600"/>
          </a:xfrm>
          <a:prstGeom prst="rect">
            <a:avLst/>
          </a:prstGeom>
        </p:spPr>
      </p:pic>
      <p:pic>
        <p:nvPicPr>
          <p:cNvPr id="82" name="Image 12" descr="connector">    </p:cNvPr>
          <p:cNvPicPr>
            <a:picLocks noChangeAspect="1"/>
          </p:cNvPicPr>
          <p:nvPr/>
        </p:nvPicPr>
        <p:blipFill>
          <a:blip r:embed="rId13"/>
          <a:srcRect l="0" r="0" t="0" b="0"/>
          <a:stretch/>
        </p:blipFill>
        <p:spPr>
          <a:xfrm>
            <a:off x="9518650" y="4133850"/>
            <a:ext cx="387350" cy="101600"/>
          </a:xfrm>
          <a:prstGeom prst="rect">
            <a:avLst/>
          </a:prstGeom>
        </p:spPr>
      </p:pic>
      <p:pic>
        <p:nvPicPr>
          <p:cNvPr id="83" name="Image 13" descr="connector">    </p:cNvPr>
          <p:cNvPicPr>
            <a:picLocks noChangeAspect="1"/>
          </p:cNvPicPr>
          <p:nvPr/>
        </p:nvPicPr>
        <p:blipFill>
          <a:blip r:embed="rId14"/>
          <a:srcRect l="0" r="0" t="0" b="0"/>
          <a:stretch/>
        </p:blipFill>
        <p:spPr>
          <a:xfrm>
            <a:off x="7708900" y="4133850"/>
            <a:ext cx="387350" cy="101600"/>
          </a:xfrm>
          <a:prstGeom prst="rect">
            <a:avLst/>
          </a:prstGeom>
        </p:spPr>
      </p:pic>
      <p:pic>
        <p:nvPicPr>
          <p:cNvPr id="84" name="Image 14" descr="connector">    </p:cNvPr>
          <p:cNvPicPr>
            <a:picLocks noChangeAspect="1"/>
          </p:cNvPicPr>
          <p:nvPr/>
        </p:nvPicPr>
        <p:blipFill>
          <a:blip r:embed="rId15"/>
          <a:srcRect l="0" r="0" t="0" b="0"/>
          <a:stretch/>
        </p:blipFill>
        <p:spPr>
          <a:xfrm>
            <a:off x="5905500" y="4133850"/>
            <a:ext cx="381000" cy="101600"/>
          </a:xfrm>
          <a:prstGeom prst="rect">
            <a:avLst/>
          </a:prstGeom>
        </p:spPr>
      </p:pic>
      <p:pic>
        <p:nvPicPr>
          <p:cNvPr id="85" name="Image 15" descr="connector">    </p:cNvPr>
          <p:cNvPicPr>
            <a:picLocks noChangeAspect="1"/>
          </p:cNvPicPr>
          <p:nvPr/>
        </p:nvPicPr>
        <p:blipFill>
          <a:blip r:embed="rId16"/>
          <a:srcRect l="0" r="0" t="0" b="0"/>
          <a:stretch/>
        </p:blipFill>
        <p:spPr>
          <a:xfrm>
            <a:off x="4095750" y="4133850"/>
            <a:ext cx="387350" cy="101600"/>
          </a:xfrm>
          <a:prstGeom prst="rect">
            <a:avLst/>
          </a:prstGeom>
        </p:spPr>
      </p:pic>
      <p:pic>
        <p:nvPicPr>
          <p:cNvPr id="86" name="Image 16" descr="connector">    </p:cNvPr>
          <p:cNvPicPr>
            <a:picLocks noChangeAspect="1"/>
          </p:cNvPicPr>
          <p:nvPr/>
        </p:nvPicPr>
        <p:blipFill>
          <a:blip r:embed="rId17"/>
          <a:srcRect l="0" r="0" t="0" b="0"/>
          <a:stretch/>
        </p:blipFill>
        <p:spPr>
          <a:xfrm>
            <a:off x="2286000" y="4133850"/>
            <a:ext cx="387350" cy="101600"/>
          </a:xfrm>
          <a:prstGeom prst="rect">
            <a:avLst/>
          </a:prstGeom>
        </p:spPr>
      </p:pic>
      <p:pic>
        <p:nvPicPr>
          <p:cNvPr id="87" name="Image 17" descr="connector">    </p:cNvPr>
          <p:cNvPicPr>
            <a:picLocks noChangeAspect="1"/>
          </p:cNvPicPr>
          <p:nvPr/>
        </p:nvPicPr>
        <p:blipFill>
          <a:blip r:embed="rId18"/>
          <a:srcRect l="0" r="0" t="0" b="0"/>
          <a:stretch/>
        </p:blipFill>
        <p:spPr>
          <a:xfrm>
            <a:off x="8756650" y="4610100"/>
            <a:ext cx="101600" cy="304800"/>
          </a:xfrm>
          <a:prstGeom prst="rect">
            <a:avLst/>
          </a:prstGeom>
        </p:spPr>
      </p:pic>
      <p:pic>
        <p:nvPicPr>
          <p:cNvPr id="88" name="Image 18" descr="connector">    </p:cNvPr>
          <p:cNvPicPr>
            <a:picLocks noChangeAspect="1"/>
          </p:cNvPicPr>
          <p:nvPr/>
        </p:nvPicPr>
        <p:blipFill>
          <a:blip r:embed="rId19"/>
          <a:srcRect l="0" r="0" t="0" b="0"/>
          <a:stretch/>
        </p:blipFill>
        <p:spPr>
          <a:xfrm>
            <a:off x="5143500" y="4610100"/>
            <a:ext cx="101600" cy="304800"/>
          </a:xfrm>
          <a:prstGeom prst="rect">
            <a:avLst/>
          </a:prstGeom>
        </p:spPr>
      </p:pic>
      <p:pic>
        <p:nvPicPr>
          <p:cNvPr id="89" name="Image 19" descr="connector">    </p:cNvPr>
          <p:cNvPicPr>
            <a:picLocks noChangeAspect="1"/>
          </p:cNvPicPr>
          <p:nvPr/>
        </p:nvPicPr>
        <p:blipFill>
          <a:blip r:embed="rId20"/>
          <a:srcRect l="0" r="0" t="0" b="0"/>
          <a:stretch/>
        </p:blipFill>
        <p:spPr>
          <a:xfrm>
            <a:off x="10566400" y="4610100"/>
            <a:ext cx="101600" cy="304800"/>
          </a:xfrm>
          <a:prstGeom prst="rect">
            <a:avLst/>
          </a:prstGeom>
        </p:spPr>
      </p:pic>
      <p:pic>
        <p:nvPicPr>
          <p:cNvPr id="90" name="Image 20" descr="connector">    </p:cNvPr>
          <p:cNvPicPr>
            <a:picLocks noChangeAspect="1"/>
          </p:cNvPicPr>
          <p:nvPr/>
        </p:nvPicPr>
        <p:blipFill>
          <a:blip r:embed="rId21"/>
          <a:srcRect l="0" r="0" t="0" b="0"/>
          <a:stretch/>
        </p:blipFill>
        <p:spPr>
          <a:xfrm>
            <a:off x="6946900" y="4610100"/>
            <a:ext cx="1149350" cy="781050"/>
          </a:xfrm>
          <a:prstGeom prst="rect">
            <a:avLst/>
          </a:prstGeom>
        </p:spPr>
      </p:pic>
      <p:sp>
        <p:nvSpPr>
          <p:cNvPr id="91" name="Text 68"/>
          <p:cNvSpPr/>
          <p:nvPr/>
        </p:nvSpPr>
        <p:spPr>
          <a:xfrm>
            <a:off x="7073900" y="4927600"/>
            <a:ext cx="45720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304D"/>
                </a:solidFill>
                <a:latin typeface="Public Sans" pitchFamily="34" charset="0"/>
                <a:ea typeface="Public Sans" pitchFamily="34" charset="-122"/>
                <a:cs typeface="Public Sans" pitchFamily="34" charset="-120"/>
              </a:rPr>
              <a:t>Go</a:t>
            </a:r>
            <a:endParaRPr lang="en-US" sz="1200" dirty="0"/>
          </a:p>
        </p:txBody>
      </p:sp>
      <p:sp>
        <p:nvSpPr>
          <p:cNvPr id="92" name="Text 69"/>
          <p:cNvSpPr/>
          <p:nvPr/>
        </p:nvSpPr>
        <p:spPr>
          <a:xfrm>
            <a:off x="812800" y="6238280"/>
            <a:ext cx="17347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B7A"/>
                </a:solidFill>
                <a:latin typeface="Public Sans" pitchFamily="34" charset="0"/>
                <a:ea typeface="Public Sans" pitchFamily="34" charset="-122"/>
                <a:cs typeface="Public Sans" pitchFamily="34" charset="-120"/>
              </a:rPr>
              <a:t>AEROFLEET DELIVERY</a:t>
            </a:r>
            <a:endParaRPr lang="en-US" sz="1200" dirty="0"/>
          </a:p>
        </p:txBody>
      </p:sp>
      <p:sp>
        <p:nvSpPr>
          <p:cNvPr id="93" name="Text 70"/>
          <p:cNvSpPr/>
          <p:nvPr/>
        </p:nvSpPr>
        <p:spPr>
          <a:xfrm>
            <a:off x="8796040" y="6238280"/>
            <a:ext cx="26606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A"/>
                </a:solidFill>
                <a:latin typeface="Public Sans" pitchFamily="34" charset="0"/>
                <a:ea typeface="Public Sans" pitchFamily="34" charset="-122"/>
                <a:cs typeface="Public Sans" pitchFamily="34" charset="-120"/>
              </a:rPr>
              <a:t>Logistics • AI + human-in-the-loop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14304D"/>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E6F99"/>
                </a:solidFill>
                <a:latin typeface="Public Sans" pitchFamily="34" charset="0"/>
                <a:ea typeface="Public Sans" pitchFamily="34" charset="-122"/>
                <a:cs typeface="Public Sans" pitchFamily="34" charset="-120"/>
              </a:rPr>
              <a:t>03 • AI INTEGRATION</a:t>
            </a:r>
            <a:endParaRPr lang="en-US" sz="1200" dirty="0"/>
          </a:p>
        </p:txBody>
      </p:sp>
      <p:sp>
        <p:nvSpPr>
          <p:cNvPr id="4" name="Text 2"/>
          <p:cNvSpPr/>
          <p:nvPr/>
        </p:nvSpPr>
        <p:spPr>
          <a:xfrm>
            <a:off x="812800" y="9880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304D"/>
                </a:solidFill>
                <a:latin typeface="Rubik" pitchFamily="34" charset="0"/>
                <a:ea typeface="Rubik" pitchFamily="34" charset="-122"/>
                <a:cs typeface="Rubik" pitchFamily="34" charset="-120"/>
              </a:rPr>
              <a:t>Match automation to the decision and its data</a:t>
            </a:r>
            <a:endParaRPr lang="en-US" sz="2800" dirty="0"/>
          </a:p>
        </p:txBody>
      </p:sp>
      <p:sp>
        <p:nvSpPr>
          <p:cNvPr id="5" name="Text 3"/>
          <p:cNvSpPr/>
          <p:nvPr/>
        </p:nvSpPr>
        <p:spPr>
          <a:xfrm>
            <a:off x="812800" y="144264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A6B7A"/>
                </a:solidFill>
                <a:latin typeface="Public Sans" pitchFamily="34" charset="0"/>
                <a:ea typeface="Public Sans" pitchFamily="34" charset="-122"/>
                <a:cs typeface="Public Sans" pitchFamily="34" charset="-120"/>
              </a:rPr>
              <a:t>The operating model is a hybrid: AI for speed and consistency, human oversight for ambiguous safety decisions.</a:t>
            </a:r>
            <a:endParaRPr lang="en-US" sz="1400" dirty="0"/>
          </a:p>
        </p:txBody>
      </p:sp>
      <p:sp>
        <p:nvSpPr>
          <p:cNvPr id="6" name="Shape 4"/>
          <p:cNvSpPr/>
          <p:nvPr/>
        </p:nvSpPr>
        <p:spPr>
          <a:xfrm>
            <a:off x="819150" y="1974205"/>
            <a:ext cx="3390900" cy="3190180"/>
          </a:xfrm>
          <a:prstGeom prst="roundRect">
            <a:avLst>
              <a:gd name="adj" fmla="val 3782"/>
            </a:avLst>
          </a:prstGeom>
          <a:solidFill>
            <a:srgbClr val="FCFDFD"/>
          </a:solidFill>
          <a:ln w="12700">
            <a:solidFill>
              <a:srgbClr val="D5DDE2"/>
            </a:solidFill>
            <a:prstDash val="solid"/>
          </a:ln>
        </p:spPr>
      </p:sp>
      <p:sp>
        <p:nvSpPr>
          <p:cNvPr id="7" name="Shape 5"/>
          <p:cNvSpPr/>
          <p:nvPr/>
        </p:nvSpPr>
        <p:spPr>
          <a:xfrm>
            <a:off x="1028700" y="2183755"/>
            <a:ext cx="1416397" cy="289520"/>
          </a:xfrm>
          <a:prstGeom prst="roundRect">
            <a:avLst>
              <a:gd name="adj" fmla="val 50000"/>
            </a:avLst>
          </a:prstGeom>
          <a:solidFill>
            <a:srgbClr val="E3F2EA"/>
          </a:solidFill>
          <a:ln/>
        </p:spPr>
      </p:sp>
      <p:sp>
        <p:nvSpPr>
          <p:cNvPr id="8" name="Text 6"/>
          <p:cNvSpPr/>
          <p:nvPr/>
        </p:nvSpPr>
        <p:spPr>
          <a:xfrm>
            <a:off x="1130300" y="2221855"/>
            <a:ext cx="1263997"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F6B45"/>
                </a:solidFill>
                <a:latin typeface="Public Sans" pitchFamily="34" charset="0"/>
                <a:ea typeface="Public Sans" pitchFamily="34" charset="-122"/>
                <a:cs typeface="Public Sans" pitchFamily="34" charset="-120"/>
              </a:rPr>
              <a:t>WHERE AI FITS</a:t>
            </a:r>
            <a:endParaRPr lang="en-US" sz="1200" dirty="0"/>
          </a:p>
        </p:txBody>
      </p:sp>
      <p:sp>
        <p:nvSpPr>
          <p:cNvPr id="9" name="Shape 7"/>
          <p:cNvSpPr/>
          <p:nvPr/>
        </p:nvSpPr>
        <p:spPr>
          <a:xfrm>
            <a:off x="1028700" y="2574875"/>
            <a:ext cx="363488" cy="233660"/>
          </a:xfrm>
          <a:prstGeom prst="roundRect">
            <a:avLst>
              <a:gd name="adj" fmla="val 50000"/>
            </a:avLst>
          </a:prstGeom>
          <a:solidFill>
            <a:srgbClr val="1F6B45"/>
          </a:solidFill>
          <a:ln/>
        </p:spPr>
      </p:sp>
      <p:sp>
        <p:nvSpPr>
          <p:cNvPr id="10" name="Text 8"/>
          <p:cNvSpPr/>
          <p:nvPr/>
        </p:nvSpPr>
        <p:spPr>
          <a:xfrm>
            <a:off x="1104900" y="2600275"/>
            <a:ext cx="261888" cy="208260"/>
          </a:xfrm>
          <a:prstGeom prst="rect">
            <a:avLst/>
          </a:prstGeom>
          <a:noFill/>
          <a:ln/>
        </p:spPr>
        <p:txBody>
          <a:bodyPr wrap="none" lIns="0" tIns="0" rIns="0" bIns="0" rtlCol="0" anchor="t">
            <a:normAutofit/>
          </a:bodyPr>
          <a:lstStyle/>
          <a:p>
            <a:pPr algn="l" indent="0" marL="0">
              <a:lnSpc>
                <a:spcPts val="1440"/>
              </a:lnSpc>
              <a:buNone/>
            </a:pPr>
            <a:r>
              <a:rPr lang="en-US" sz="1200" b="1" dirty="0">
                <a:solidFill>
                  <a:srgbClr val="F4F8F5"/>
                </a:solidFill>
                <a:latin typeface="Public Sans" pitchFamily="34" charset="0"/>
                <a:ea typeface="Public Sans" pitchFamily="34" charset="-122"/>
                <a:cs typeface="Public Sans" pitchFamily="34" charset="-120"/>
              </a:rPr>
              <a:t>D3</a:t>
            </a:r>
            <a:endParaRPr lang="en-US" sz="1200" dirty="0"/>
          </a:p>
        </p:txBody>
      </p:sp>
      <p:sp>
        <p:nvSpPr>
          <p:cNvPr id="11" name="Text 9"/>
          <p:cNvSpPr/>
          <p:nvPr/>
        </p:nvSpPr>
        <p:spPr>
          <a:xfrm>
            <a:off x="1481088" y="2574875"/>
            <a:ext cx="1911819"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304D"/>
                </a:solidFill>
                <a:latin typeface="Public Sans" pitchFamily="34" charset="0"/>
                <a:ea typeface="Public Sans" pitchFamily="34" charset="-122"/>
                <a:cs typeface="Public Sans" pitchFamily="34" charset="-120"/>
              </a:rPr>
              <a:t>Forecasting + rule checks</a:t>
            </a:r>
            <a:endParaRPr lang="en-US" sz="1200" dirty="0"/>
          </a:p>
        </p:txBody>
      </p:sp>
      <p:sp>
        <p:nvSpPr>
          <p:cNvPr id="12" name="Text 10"/>
          <p:cNvSpPr/>
          <p:nvPr/>
        </p:nvSpPr>
        <p:spPr>
          <a:xfrm>
            <a:off x="1481088" y="2770436"/>
            <a:ext cx="191181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A6B7A"/>
                </a:solidFill>
                <a:latin typeface="Public Sans" pitchFamily="34" charset="0"/>
                <a:ea typeface="Public Sans" pitchFamily="34" charset="-122"/>
                <a:cs typeface="Public Sans" pitchFamily="34" charset="-120"/>
              </a:rPr>
              <a:t>Weather and flight limits</a:t>
            </a:r>
            <a:endParaRPr lang="en-US" sz="1200" dirty="0"/>
          </a:p>
        </p:txBody>
      </p:sp>
      <p:sp>
        <p:nvSpPr>
          <p:cNvPr id="13" name="Shape 11"/>
          <p:cNvSpPr/>
          <p:nvPr/>
        </p:nvSpPr>
        <p:spPr>
          <a:xfrm>
            <a:off x="1028700" y="3062536"/>
            <a:ext cx="291257" cy="233660"/>
          </a:xfrm>
          <a:prstGeom prst="roundRect">
            <a:avLst>
              <a:gd name="adj" fmla="val 50000"/>
            </a:avLst>
          </a:prstGeom>
          <a:solidFill>
            <a:srgbClr val="1F6B45"/>
          </a:solidFill>
          <a:ln/>
        </p:spPr>
      </p:sp>
      <p:sp>
        <p:nvSpPr>
          <p:cNvPr id="14" name="Text 12"/>
          <p:cNvSpPr/>
          <p:nvPr/>
        </p:nvSpPr>
        <p:spPr>
          <a:xfrm>
            <a:off x="1104900" y="3087936"/>
            <a:ext cx="189657" cy="208260"/>
          </a:xfrm>
          <a:prstGeom prst="rect">
            <a:avLst/>
          </a:prstGeom>
          <a:noFill/>
          <a:ln/>
        </p:spPr>
        <p:txBody>
          <a:bodyPr wrap="none" lIns="0" tIns="0" rIns="0" bIns="0" rtlCol="0" anchor="t">
            <a:normAutofit/>
          </a:bodyPr>
          <a:lstStyle/>
          <a:p>
            <a:pPr algn="l" indent="0" marL="0">
              <a:lnSpc>
                <a:spcPts val="1440"/>
              </a:lnSpc>
              <a:buNone/>
            </a:pPr>
            <a:r>
              <a:rPr lang="en-US" sz="1200" b="1" dirty="0">
                <a:solidFill>
                  <a:srgbClr val="F4F8F5"/>
                </a:solidFill>
                <a:latin typeface="Public Sans" pitchFamily="34" charset="0"/>
                <a:ea typeface="Public Sans" pitchFamily="34" charset="-122"/>
                <a:cs typeface="Public Sans" pitchFamily="34" charset="-120"/>
              </a:rPr>
              <a:t>D4</a:t>
            </a:r>
            <a:endParaRPr lang="en-US" sz="1200" dirty="0"/>
          </a:p>
        </p:txBody>
      </p:sp>
      <p:sp>
        <p:nvSpPr>
          <p:cNvPr id="15" name="Text 13"/>
          <p:cNvSpPr/>
          <p:nvPr/>
        </p:nvSpPr>
        <p:spPr>
          <a:xfrm>
            <a:off x="1408857" y="3062536"/>
            <a:ext cx="2669393"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304D"/>
                </a:solidFill>
                <a:latin typeface="Public Sans" pitchFamily="34" charset="0"/>
                <a:ea typeface="Public Sans" pitchFamily="34" charset="-122"/>
                <a:cs typeface="Public Sans" pitchFamily="34" charset="-120"/>
              </a:rPr>
              <a:t>Real-time routing</a:t>
            </a:r>
            <a:endParaRPr lang="en-US" sz="1200" dirty="0"/>
          </a:p>
        </p:txBody>
      </p:sp>
      <p:sp>
        <p:nvSpPr>
          <p:cNvPr id="16" name="Text 14"/>
          <p:cNvSpPr/>
          <p:nvPr/>
        </p:nvSpPr>
        <p:spPr>
          <a:xfrm>
            <a:off x="1408857" y="3258096"/>
            <a:ext cx="2669393"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A6B7A"/>
                </a:solidFill>
                <a:latin typeface="Public Sans" pitchFamily="34" charset="0"/>
                <a:ea typeface="Public Sans" pitchFamily="34" charset="-122"/>
                <a:cs typeface="Public Sans" pitchFamily="34" charset="-120"/>
              </a:rPr>
              <a:t>Shared flight plans: ~8,000 Dallas flights, zero conflicts</a:t>
            </a:r>
            <a:endParaRPr lang="en-US" sz="1200" dirty="0"/>
          </a:p>
        </p:txBody>
      </p:sp>
      <p:sp>
        <p:nvSpPr>
          <p:cNvPr id="17" name="Shape 15"/>
          <p:cNvSpPr/>
          <p:nvPr/>
        </p:nvSpPr>
        <p:spPr>
          <a:xfrm>
            <a:off x="1028700" y="3740696"/>
            <a:ext cx="365026" cy="233660"/>
          </a:xfrm>
          <a:prstGeom prst="roundRect">
            <a:avLst>
              <a:gd name="adj" fmla="val 50000"/>
            </a:avLst>
          </a:prstGeom>
          <a:solidFill>
            <a:srgbClr val="1F6B45"/>
          </a:solidFill>
          <a:ln/>
        </p:spPr>
      </p:sp>
      <p:sp>
        <p:nvSpPr>
          <p:cNvPr id="18" name="Text 16"/>
          <p:cNvSpPr/>
          <p:nvPr/>
        </p:nvSpPr>
        <p:spPr>
          <a:xfrm>
            <a:off x="1104900" y="3766096"/>
            <a:ext cx="263426" cy="208260"/>
          </a:xfrm>
          <a:prstGeom prst="rect">
            <a:avLst/>
          </a:prstGeom>
          <a:noFill/>
          <a:ln/>
        </p:spPr>
        <p:txBody>
          <a:bodyPr wrap="none" lIns="0" tIns="0" rIns="0" bIns="0" rtlCol="0" anchor="t">
            <a:normAutofit/>
          </a:bodyPr>
          <a:lstStyle/>
          <a:p>
            <a:pPr algn="l" indent="0" marL="0">
              <a:lnSpc>
                <a:spcPts val="1440"/>
              </a:lnSpc>
              <a:buNone/>
            </a:pPr>
            <a:r>
              <a:rPr lang="en-US" sz="1200" b="1" dirty="0">
                <a:solidFill>
                  <a:srgbClr val="F4F8F5"/>
                </a:solidFill>
                <a:latin typeface="Public Sans" pitchFamily="34" charset="0"/>
                <a:ea typeface="Public Sans" pitchFamily="34" charset="-122"/>
                <a:cs typeface="Public Sans" pitchFamily="34" charset="-120"/>
              </a:rPr>
              <a:t>D5</a:t>
            </a:r>
            <a:endParaRPr lang="en-US" sz="1200" dirty="0"/>
          </a:p>
        </p:txBody>
      </p:sp>
      <p:sp>
        <p:nvSpPr>
          <p:cNvPr id="19" name="Text 17"/>
          <p:cNvSpPr/>
          <p:nvPr/>
        </p:nvSpPr>
        <p:spPr>
          <a:xfrm>
            <a:off x="1482626" y="3740696"/>
            <a:ext cx="213143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304D"/>
                </a:solidFill>
                <a:latin typeface="Public Sans" pitchFamily="34" charset="0"/>
                <a:ea typeface="Public Sans" pitchFamily="34" charset="-122"/>
                <a:cs typeface="Public Sans" pitchFamily="34" charset="-120"/>
              </a:rPr>
              <a:t>Computer vision</a:t>
            </a:r>
            <a:endParaRPr lang="en-US" sz="1200" dirty="0"/>
          </a:p>
        </p:txBody>
      </p:sp>
      <p:sp>
        <p:nvSpPr>
          <p:cNvPr id="20" name="Text 18"/>
          <p:cNvSpPr/>
          <p:nvPr/>
        </p:nvSpPr>
        <p:spPr>
          <a:xfrm>
            <a:off x="1482626" y="3936256"/>
            <a:ext cx="213143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A6B7A"/>
                </a:solidFill>
                <a:latin typeface="Public Sans" pitchFamily="34" charset="0"/>
                <a:ea typeface="Public Sans" pitchFamily="34" charset="-122"/>
                <a:cs typeface="Public Sans" pitchFamily="34" charset="-120"/>
              </a:rPr>
              <a:t>Drop-zone anomaly detection</a:t>
            </a:r>
            <a:endParaRPr lang="en-US" sz="1200" dirty="0"/>
          </a:p>
        </p:txBody>
      </p:sp>
      <p:sp>
        <p:nvSpPr>
          <p:cNvPr id="21" name="Shape 19"/>
          <p:cNvSpPr/>
          <p:nvPr/>
        </p:nvSpPr>
        <p:spPr>
          <a:xfrm>
            <a:off x="1028700" y="4228356"/>
            <a:ext cx="324098" cy="233660"/>
          </a:xfrm>
          <a:prstGeom prst="roundRect">
            <a:avLst>
              <a:gd name="adj" fmla="val 50000"/>
            </a:avLst>
          </a:prstGeom>
          <a:solidFill>
            <a:srgbClr val="1F6B45"/>
          </a:solidFill>
          <a:ln/>
        </p:spPr>
      </p:sp>
      <p:sp>
        <p:nvSpPr>
          <p:cNvPr id="22" name="Text 20"/>
          <p:cNvSpPr/>
          <p:nvPr/>
        </p:nvSpPr>
        <p:spPr>
          <a:xfrm>
            <a:off x="1104900" y="4253756"/>
            <a:ext cx="222498" cy="208260"/>
          </a:xfrm>
          <a:prstGeom prst="rect">
            <a:avLst/>
          </a:prstGeom>
          <a:noFill/>
          <a:ln/>
        </p:spPr>
        <p:txBody>
          <a:bodyPr wrap="none" lIns="0" tIns="0" rIns="0" bIns="0" rtlCol="0" anchor="t">
            <a:normAutofit/>
          </a:bodyPr>
          <a:lstStyle/>
          <a:p>
            <a:pPr algn="l" indent="0" marL="0">
              <a:lnSpc>
                <a:spcPts val="1440"/>
              </a:lnSpc>
              <a:buNone/>
            </a:pPr>
            <a:r>
              <a:rPr lang="en-US" sz="1200" b="1" dirty="0">
                <a:solidFill>
                  <a:srgbClr val="F4F8F5"/>
                </a:solidFill>
                <a:latin typeface="Public Sans" pitchFamily="34" charset="0"/>
                <a:ea typeface="Public Sans" pitchFamily="34" charset="-122"/>
                <a:cs typeface="Public Sans" pitchFamily="34" charset="-120"/>
              </a:rPr>
              <a:t>D7</a:t>
            </a:r>
            <a:endParaRPr lang="en-US" sz="1200" dirty="0"/>
          </a:p>
        </p:txBody>
      </p:sp>
      <p:sp>
        <p:nvSpPr>
          <p:cNvPr id="23" name="Text 21"/>
          <p:cNvSpPr/>
          <p:nvPr/>
        </p:nvSpPr>
        <p:spPr>
          <a:xfrm>
            <a:off x="1441698" y="4228356"/>
            <a:ext cx="2635566"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304D"/>
                </a:solidFill>
                <a:latin typeface="Public Sans" pitchFamily="34" charset="0"/>
                <a:ea typeface="Public Sans" pitchFamily="34" charset="-122"/>
                <a:cs typeface="Public Sans" pitchFamily="34" charset="-120"/>
              </a:rPr>
              <a:t>Telemetry validation</a:t>
            </a:r>
            <a:endParaRPr lang="en-US" sz="1200" dirty="0"/>
          </a:p>
        </p:txBody>
      </p:sp>
      <p:sp>
        <p:nvSpPr>
          <p:cNvPr id="24" name="Text 22"/>
          <p:cNvSpPr/>
          <p:nvPr/>
        </p:nvSpPr>
        <p:spPr>
          <a:xfrm>
            <a:off x="1441698" y="4423916"/>
            <a:ext cx="2635566"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A6B7A"/>
                </a:solidFill>
                <a:latin typeface="Public Sans" pitchFamily="34" charset="0"/>
                <a:ea typeface="Public Sans" pitchFamily="34" charset="-122"/>
                <a:cs typeface="Public Sans" pitchFamily="34" charset="-120"/>
              </a:rPr>
              <a:t>Exact drop-coordinate check with RTK GPS</a:t>
            </a:r>
            <a:endParaRPr lang="en-US" sz="1200" dirty="0"/>
          </a:p>
        </p:txBody>
      </p:sp>
      <p:sp>
        <p:nvSpPr>
          <p:cNvPr id="25" name="Shape 23"/>
          <p:cNvSpPr/>
          <p:nvPr/>
        </p:nvSpPr>
        <p:spPr>
          <a:xfrm>
            <a:off x="4400550" y="1974205"/>
            <a:ext cx="3390900" cy="3190180"/>
          </a:xfrm>
          <a:prstGeom prst="roundRect">
            <a:avLst>
              <a:gd name="adj" fmla="val 3782"/>
            </a:avLst>
          </a:prstGeom>
          <a:solidFill>
            <a:srgbClr val="14304D"/>
          </a:solidFill>
          <a:ln w="12700">
            <a:solidFill>
              <a:srgbClr val="14304D"/>
            </a:solidFill>
            <a:prstDash val="solid"/>
          </a:ln>
        </p:spPr>
      </p:sp>
      <p:sp>
        <p:nvSpPr>
          <p:cNvPr id="26" name="Text 24"/>
          <p:cNvSpPr/>
          <p:nvPr/>
        </p:nvSpPr>
        <p:spPr>
          <a:xfrm>
            <a:off x="4565523" y="2183755"/>
            <a:ext cx="3060954" cy="609600"/>
          </a:xfrm>
          <a:prstGeom prst="rect">
            <a:avLst/>
          </a:prstGeom>
          <a:noFill/>
          <a:ln/>
        </p:spPr>
        <p:txBody>
          <a:bodyPr wrap="square" lIns="0" tIns="0" rIns="0" bIns="0" rtlCol="0" anchor="t">
            <a:normAutofit/>
          </a:bodyPr>
          <a:lstStyle/>
          <a:p>
            <a:pPr algn="ctr" indent="0" marL="0">
              <a:lnSpc>
                <a:spcPts val="2300"/>
              </a:lnSpc>
              <a:buNone/>
            </a:pPr>
            <a:r>
              <a:rPr lang="en-US" sz="2000" b="1" dirty="0">
                <a:solidFill>
                  <a:srgbClr val="F4F8F5"/>
                </a:solidFill>
                <a:latin typeface="Rubik" pitchFamily="34" charset="0"/>
                <a:ea typeface="Rubik" pitchFamily="34" charset="-122"/>
                <a:cs typeface="Rubik" pitchFamily="34" charset="-120"/>
              </a:rPr>
              <a:t>Where AI does not fully fit</a:t>
            </a:r>
            <a:endParaRPr lang="en-US" sz="2000" dirty="0"/>
          </a:p>
        </p:txBody>
      </p:sp>
      <p:sp>
        <p:nvSpPr>
          <p:cNvPr id="27" name="Text 25"/>
          <p:cNvSpPr/>
          <p:nvPr/>
        </p:nvSpPr>
        <p:spPr>
          <a:xfrm>
            <a:off x="4610100" y="2844155"/>
            <a:ext cx="3060954"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2A766"/>
                </a:solidFill>
                <a:latin typeface="Public Sans" pitchFamily="34" charset="0"/>
                <a:ea typeface="Public Sans" pitchFamily="34" charset="-122"/>
                <a:cs typeface="Public Sans" pitchFamily="34" charset="-120"/>
              </a:rPr>
              <a:t>D6 · Safety override</a:t>
            </a:r>
            <a:endParaRPr lang="en-US" sz="1200" dirty="0"/>
          </a:p>
        </p:txBody>
      </p:sp>
      <p:sp>
        <p:nvSpPr>
          <p:cNvPr id="28" name="Text 26"/>
          <p:cNvSpPr/>
          <p:nvPr/>
        </p:nvSpPr>
        <p:spPr>
          <a:xfrm>
            <a:off x="4610100" y="3052415"/>
            <a:ext cx="3060954" cy="596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D9E3EC"/>
                </a:solidFill>
                <a:latin typeface="Public Sans" pitchFamily="34" charset="0"/>
                <a:ea typeface="Public Sans" pitchFamily="34" charset="-122"/>
                <a:cs typeface="Public Sans" pitchFamily="34" charset="-120"/>
              </a:rPr>
              <a:t>Nuanced visual judgment, like lawn ornament vs. pet, and final safety accountability.</a:t>
            </a:r>
            <a:endParaRPr lang="en-US" sz="1200" dirty="0"/>
          </a:p>
        </p:txBody>
      </p:sp>
      <p:sp>
        <p:nvSpPr>
          <p:cNvPr id="29" name="Text 27"/>
          <p:cNvSpPr/>
          <p:nvPr/>
        </p:nvSpPr>
        <p:spPr>
          <a:xfrm>
            <a:off x="4610100" y="3700115"/>
            <a:ext cx="3060954"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2A766"/>
                </a:solidFill>
                <a:latin typeface="Public Sans" pitchFamily="34" charset="0"/>
                <a:ea typeface="Public Sans" pitchFamily="34" charset="-122"/>
                <a:cs typeface="Public Sans" pitchFamily="34" charset="-120"/>
              </a:rPr>
              <a:t>D2 · Packing check</a:t>
            </a:r>
            <a:endParaRPr lang="en-US" sz="1200" dirty="0"/>
          </a:p>
        </p:txBody>
      </p:sp>
      <p:sp>
        <p:nvSpPr>
          <p:cNvPr id="30" name="Text 28"/>
          <p:cNvSpPr/>
          <p:nvPr/>
        </p:nvSpPr>
        <p:spPr>
          <a:xfrm>
            <a:off x="4610100" y="3908375"/>
            <a:ext cx="3060954"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D9E3EC"/>
                </a:solidFill>
                <a:latin typeface="Public Sans" pitchFamily="34" charset="0"/>
                <a:ea typeface="Public Sans" pitchFamily="34" charset="-122"/>
                <a:cs typeface="Public Sans" pitchFamily="34" charset="-120"/>
              </a:rPr>
              <a:t>Hands-on securing and balancing of each package.</a:t>
            </a:r>
            <a:endParaRPr lang="en-US" sz="1200" dirty="0"/>
          </a:p>
        </p:txBody>
      </p:sp>
      <p:sp>
        <p:nvSpPr>
          <p:cNvPr id="31" name="Text 29"/>
          <p:cNvSpPr/>
          <p:nvPr/>
        </p:nvSpPr>
        <p:spPr>
          <a:xfrm>
            <a:off x="4610100" y="4365575"/>
            <a:ext cx="3060954"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2A766"/>
                </a:solidFill>
                <a:latin typeface="Public Sans" pitchFamily="34" charset="0"/>
                <a:ea typeface="Public Sans" pitchFamily="34" charset="-122"/>
                <a:cs typeface="Public Sans" pitchFamily="34" charset="-120"/>
              </a:rPr>
              <a:t>D8 · Customer problems</a:t>
            </a:r>
            <a:endParaRPr lang="en-US" sz="1200" dirty="0"/>
          </a:p>
        </p:txBody>
      </p:sp>
      <p:sp>
        <p:nvSpPr>
          <p:cNvPr id="32" name="Text 30"/>
          <p:cNvSpPr/>
          <p:nvPr/>
        </p:nvSpPr>
        <p:spPr>
          <a:xfrm>
            <a:off x="4610100" y="4573836"/>
            <a:ext cx="3060954"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D9E3EC"/>
                </a:solidFill>
                <a:latin typeface="Public Sans" pitchFamily="34" charset="0"/>
                <a:ea typeface="Public Sans" pitchFamily="34" charset="-122"/>
                <a:cs typeface="Public Sans" pitchFamily="34" charset="-120"/>
              </a:rPr>
              <a:t>Empathy, and judging whether a claim is genuine.</a:t>
            </a:r>
            <a:endParaRPr lang="en-US" sz="1200" dirty="0"/>
          </a:p>
        </p:txBody>
      </p:sp>
      <p:sp>
        <p:nvSpPr>
          <p:cNvPr id="33" name="Shape 31"/>
          <p:cNvSpPr/>
          <p:nvPr/>
        </p:nvSpPr>
        <p:spPr>
          <a:xfrm>
            <a:off x="7981950" y="1974205"/>
            <a:ext cx="3390900" cy="3190180"/>
          </a:xfrm>
          <a:prstGeom prst="roundRect">
            <a:avLst>
              <a:gd name="adj" fmla="val 3782"/>
            </a:avLst>
          </a:prstGeom>
          <a:solidFill>
            <a:srgbClr val="FCFDFD"/>
          </a:solidFill>
          <a:ln w="12700">
            <a:solidFill>
              <a:srgbClr val="D5DDE2"/>
            </a:solidFill>
            <a:prstDash val="solid"/>
          </a:ln>
        </p:spPr>
      </p:sp>
      <p:sp>
        <p:nvSpPr>
          <p:cNvPr id="34" name="Shape 32"/>
          <p:cNvSpPr/>
          <p:nvPr/>
        </p:nvSpPr>
        <p:spPr>
          <a:xfrm>
            <a:off x="8191500" y="2183755"/>
            <a:ext cx="1973610" cy="289520"/>
          </a:xfrm>
          <a:prstGeom prst="roundRect">
            <a:avLst>
              <a:gd name="adj" fmla="val 50000"/>
            </a:avLst>
          </a:prstGeom>
          <a:solidFill>
            <a:srgbClr val="E3EEF7"/>
          </a:solidFill>
          <a:ln/>
        </p:spPr>
      </p:sp>
      <p:sp>
        <p:nvSpPr>
          <p:cNvPr id="35" name="Text 33"/>
          <p:cNvSpPr/>
          <p:nvPr/>
        </p:nvSpPr>
        <p:spPr>
          <a:xfrm>
            <a:off x="8293100" y="2221855"/>
            <a:ext cx="182352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304D"/>
                </a:solidFill>
                <a:latin typeface="Public Sans" pitchFamily="34" charset="0"/>
                <a:ea typeface="Public Sans" pitchFamily="34" charset="-122"/>
                <a:cs typeface="Public Sans" pitchFamily="34" charset="-120"/>
              </a:rPr>
              <a:t>DATA REQUIREMENTS</a:t>
            </a:r>
            <a:endParaRPr lang="en-US" sz="1200" dirty="0"/>
          </a:p>
        </p:txBody>
      </p:sp>
      <p:sp>
        <p:nvSpPr>
          <p:cNvPr id="36" name="Shape 34"/>
          <p:cNvSpPr/>
          <p:nvPr/>
        </p:nvSpPr>
        <p:spPr>
          <a:xfrm>
            <a:off x="8197850" y="2593925"/>
            <a:ext cx="342900" cy="271760"/>
          </a:xfrm>
          <a:prstGeom prst="roundRect">
            <a:avLst>
              <a:gd name="adj" fmla="val 50000"/>
            </a:avLst>
          </a:prstGeom>
          <a:noFill/>
          <a:ln w="12700">
            <a:solidFill>
              <a:srgbClr val="7F9DB5"/>
            </a:solidFill>
            <a:prstDash val="solid"/>
          </a:ln>
        </p:spPr>
      </p:sp>
      <p:sp>
        <p:nvSpPr>
          <p:cNvPr id="37" name="Text 35"/>
          <p:cNvSpPr/>
          <p:nvPr/>
        </p:nvSpPr>
        <p:spPr>
          <a:xfrm>
            <a:off x="8178800" y="2638375"/>
            <a:ext cx="381000" cy="208260"/>
          </a:xfrm>
          <a:prstGeom prst="rect">
            <a:avLst/>
          </a:prstGeom>
          <a:noFill/>
          <a:ln/>
        </p:spPr>
        <p:txBody>
          <a:bodyPr wrap="none" lIns="0" tIns="0" rIns="0" bIns="0" rtlCol="0" anchor="t">
            <a:normAutofit/>
          </a:bodyPr>
          <a:lstStyle/>
          <a:p>
            <a:pPr algn="ctr" indent="0" marL="0">
              <a:lnSpc>
                <a:spcPts val="1440"/>
              </a:lnSpc>
              <a:buNone/>
            </a:pPr>
            <a:r>
              <a:rPr lang="en-US" sz="1200" b="1" dirty="0">
                <a:solidFill>
                  <a:srgbClr val="3E6F99"/>
                </a:solidFill>
                <a:latin typeface="Public Sans" pitchFamily="34" charset="0"/>
                <a:ea typeface="Public Sans" pitchFamily="34" charset="-122"/>
                <a:cs typeface="Public Sans" pitchFamily="34" charset="-120"/>
              </a:rPr>
              <a:t>01</a:t>
            </a:r>
            <a:endParaRPr lang="en-US" sz="1200" dirty="0"/>
          </a:p>
        </p:txBody>
      </p:sp>
      <p:sp>
        <p:nvSpPr>
          <p:cNvPr id="38" name="Text 36"/>
          <p:cNvSpPr/>
          <p:nvPr/>
        </p:nvSpPr>
        <p:spPr>
          <a:xfrm>
            <a:off x="8648700" y="2587575"/>
            <a:ext cx="2134451"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304D"/>
                </a:solidFill>
                <a:latin typeface="Public Sans" pitchFamily="34" charset="0"/>
                <a:ea typeface="Public Sans" pitchFamily="34" charset="-122"/>
                <a:cs typeface="Public Sans" pitchFamily="34" charset="-120"/>
              </a:rPr>
              <a:t>Real-time weather API feeds</a:t>
            </a:r>
            <a:endParaRPr lang="en-US" sz="1200" dirty="0"/>
          </a:p>
        </p:txBody>
      </p:sp>
      <p:sp>
        <p:nvSpPr>
          <p:cNvPr id="39" name="Shape 37"/>
          <p:cNvSpPr/>
          <p:nvPr/>
        </p:nvSpPr>
        <p:spPr>
          <a:xfrm>
            <a:off x="8197850" y="2992686"/>
            <a:ext cx="342900" cy="271760"/>
          </a:xfrm>
          <a:prstGeom prst="roundRect">
            <a:avLst>
              <a:gd name="adj" fmla="val 50000"/>
            </a:avLst>
          </a:prstGeom>
          <a:noFill/>
          <a:ln w="12700">
            <a:solidFill>
              <a:srgbClr val="7F9DB5"/>
            </a:solidFill>
            <a:prstDash val="solid"/>
          </a:ln>
        </p:spPr>
      </p:sp>
      <p:sp>
        <p:nvSpPr>
          <p:cNvPr id="40" name="Text 38"/>
          <p:cNvSpPr/>
          <p:nvPr/>
        </p:nvSpPr>
        <p:spPr>
          <a:xfrm>
            <a:off x="8178800" y="3037136"/>
            <a:ext cx="381000" cy="208260"/>
          </a:xfrm>
          <a:prstGeom prst="rect">
            <a:avLst/>
          </a:prstGeom>
          <a:noFill/>
          <a:ln/>
        </p:spPr>
        <p:txBody>
          <a:bodyPr wrap="none" lIns="0" tIns="0" rIns="0" bIns="0" rtlCol="0" anchor="t">
            <a:normAutofit/>
          </a:bodyPr>
          <a:lstStyle/>
          <a:p>
            <a:pPr algn="ctr" indent="0" marL="0">
              <a:lnSpc>
                <a:spcPts val="1440"/>
              </a:lnSpc>
              <a:buNone/>
            </a:pPr>
            <a:r>
              <a:rPr lang="en-US" sz="1200" b="1" dirty="0">
                <a:solidFill>
                  <a:srgbClr val="3E6F99"/>
                </a:solidFill>
                <a:latin typeface="Public Sans" pitchFamily="34" charset="0"/>
                <a:ea typeface="Public Sans" pitchFamily="34" charset="-122"/>
                <a:cs typeface="Public Sans" pitchFamily="34" charset="-120"/>
              </a:rPr>
              <a:t>02</a:t>
            </a:r>
            <a:endParaRPr lang="en-US" sz="1200" dirty="0"/>
          </a:p>
        </p:txBody>
      </p:sp>
      <p:sp>
        <p:nvSpPr>
          <p:cNvPr id="41" name="Text 39"/>
          <p:cNvSpPr/>
          <p:nvPr/>
        </p:nvSpPr>
        <p:spPr>
          <a:xfrm>
            <a:off x="8648700" y="2986336"/>
            <a:ext cx="259003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304D"/>
                </a:solidFill>
                <a:latin typeface="Public Sans" pitchFamily="34" charset="0"/>
                <a:ea typeface="Public Sans" pitchFamily="34" charset="-122"/>
                <a:cs typeface="Public Sans" pitchFamily="34" charset="-120"/>
              </a:rPr>
              <a:t>Live UTM air-traffic data and flight plans</a:t>
            </a:r>
            <a:endParaRPr lang="en-US" sz="1200" dirty="0"/>
          </a:p>
        </p:txBody>
      </p:sp>
      <p:sp>
        <p:nvSpPr>
          <p:cNvPr id="42" name="Shape 40"/>
          <p:cNvSpPr/>
          <p:nvPr/>
        </p:nvSpPr>
        <p:spPr>
          <a:xfrm>
            <a:off x="8197850" y="3487986"/>
            <a:ext cx="342900" cy="271760"/>
          </a:xfrm>
          <a:prstGeom prst="roundRect">
            <a:avLst>
              <a:gd name="adj" fmla="val 50000"/>
            </a:avLst>
          </a:prstGeom>
          <a:noFill/>
          <a:ln w="12700">
            <a:solidFill>
              <a:srgbClr val="7F9DB5"/>
            </a:solidFill>
            <a:prstDash val="solid"/>
          </a:ln>
        </p:spPr>
      </p:sp>
      <p:sp>
        <p:nvSpPr>
          <p:cNvPr id="43" name="Text 41"/>
          <p:cNvSpPr/>
          <p:nvPr/>
        </p:nvSpPr>
        <p:spPr>
          <a:xfrm>
            <a:off x="8178800" y="3532436"/>
            <a:ext cx="381000" cy="208260"/>
          </a:xfrm>
          <a:prstGeom prst="rect">
            <a:avLst/>
          </a:prstGeom>
          <a:noFill/>
          <a:ln/>
        </p:spPr>
        <p:txBody>
          <a:bodyPr wrap="none" lIns="0" tIns="0" rIns="0" bIns="0" rtlCol="0" anchor="t">
            <a:normAutofit/>
          </a:bodyPr>
          <a:lstStyle/>
          <a:p>
            <a:pPr algn="ctr" indent="0" marL="0">
              <a:lnSpc>
                <a:spcPts val="1440"/>
              </a:lnSpc>
              <a:buNone/>
            </a:pPr>
            <a:r>
              <a:rPr lang="en-US" sz="1200" b="1" dirty="0">
                <a:solidFill>
                  <a:srgbClr val="3E6F99"/>
                </a:solidFill>
                <a:latin typeface="Public Sans" pitchFamily="34" charset="0"/>
                <a:ea typeface="Public Sans" pitchFamily="34" charset="-122"/>
                <a:cs typeface="Public Sans" pitchFamily="34" charset="-120"/>
              </a:rPr>
              <a:t>03</a:t>
            </a:r>
            <a:endParaRPr lang="en-US" sz="1200" dirty="0"/>
          </a:p>
        </p:txBody>
      </p:sp>
      <p:sp>
        <p:nvSpPr>
          <p:cNvPr id="44" name="Text 42"/>
          <p:cNvSpPr/>
          <p:nvPr/>
        </p:nvSpPr>
        <p:spPr>
          <a:xfrm>
            <a:off x="8648700" y="3481636"/>
            <a:ext cx="259003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304D"/>
                </a:solidFill>
                <a:latin typeface="Public Sans" pitchFamily="34" charset="0"/>
                <a:ea typeface="Public Sans" pitchFamily="34" charset="-122"/>
                <a:cs typeface="Public Sans" pitchFamily="34" charset="-120"/>
              </a:rPr>
              <a:t>RTK GPS telemetry and battery logs</a:t>
            </a:r>
            <a:endParaRPr lang="en-US" sz="1200" dirty="0"/>
          </a:p>
        </p:txBody>
      </p:sp>
      <p:sp>
        <p:nvSpPr>
          <p:cNvPr id="45" name="Shape 43"/>
          <p:cNvSpPr/>
          <p:nvPr/>
        </p:nvSpPr>
        <p:spPr>
          <a:xfrm>
            <a:off x="8197850" y="3983286"/>
            <a:ext cx="342900" cy="271760"/>
          </a:xfrm>
          <a:prstGeom prst="roundRect">
            <a:avLst>
              <a:gd name="adj" fmla="val 50000"/>
            </a:avLst>
          </a:prstGeom>
          <a:noFill/>
          <a:ln w="12700">
            <a:solidFill>
              <a:srgbClr val="7F9DB5"/>
            </a:solidFill>
            <a:prstDash val="solid"/>
          </a:ln>
        </p:spPr>
      </p:sp>
      <p:sp>
        <p:nvSpPr>
          <p:cNvPr id="46" name="Text 44"/>
          <p:cNvSpPr/>
          <p:nvPr/>
        </p:nvSpPr>
        <p:spPr>
          <a:xfrm>
            <a:off x="8178800" y="4027736"/>
            <a:ext cx="381000" cy="208260"/>
          </a:xfrm>
          <a:prstGeom prst="rect">
            <a:avLst/>
          </a:prstGeom>
          <a:noFill/>
          <a:ln/>
        </p:spPr>
        <p:txBody>
          <a:bodyPr wrap="none" lIns="0" tIns="0" rIns="0" bIns="0" rtlCol="0" anchor="t">
            <a:normAutofit/>
          </a:bodyPr>
          <a:lstStyle/>
          <a:p>
            <a:pPr algn="ctr" indent="0" marL="0">
              <a:lnSpc>
                <a:spcPts val="1440"/>
              </a:lnSpc>
              <a:buNone/>
            </a:pPr>
            <a:r>
              <a:rPr lang="en-US" sz="1200" b="1" dirty="0">
                <a:solidFill>
                  <a:srgbClr val="3E6F99"/>
                </a:solidFill>
                <a:latin typeface="Public Sans" pitchFamily="34" charset="0"/>
                <a:ea typeface="Public Sans" pitchFamily="34" charset="-122"/>
                <a:cs typeface="Public Sans" pitchFamily="34" charset="-120"/>
              </a:rPr>
              <a:t>04</a:t>
            </a:r>
            <a:endParaRPr lang="en-US" sz="1200" dirty="0"/>
          </a:p>
        </p:txBody>
      </p:sp>
      <p:sp>
        <p:nvSpPr>
          <p:cNvPr id="47" name="Text 45"/>
          <p:cNvSpPr/>
          <p:nvPr/>
        </p:nvSpPr>
        <p:spPr>
          <a:xfrm>
            <a:off x="8648700" y="3976936"/>
            <a:ext cx="259003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304D"/>
                </a:solidFill>
                <a:latin typeface="Public Sans" pitchFamily="34" charset="0"/>
                <a:ea typeface="Public Sans" pitchFamily="34" charset="-122"/>
                <a:cs typeface="Public Sans" pitchFamily="34" charset="-120"/>
              </a:rPr>
              <a:t>Residential visual datasets for object detection</a:t>
            </a:r>
            <a:endParaRPr lang="en-US" sz="1200" dirty="0"/>
          </a:p>
        </p:txBody>
      </p:sp>
      <p:sp>
        <p:nvSpPr>
          <p:cNvPr id="48" name="Shape 46"/>
          <p:cNvSpPr/>
          <p:nvPr/>
        </p:nvSpPr>
        <p:spPr>
          <a:xfrm>
            <a:off x="8197850" y="4478586"/>
            <a:ext cx="342900" cy="271760"/>
          </a:xfrm>
          <a:prstGeom prst="roundRect">
            <a:avLst>
              <a:gd name="adj" fmla="val 50000"/>
            </a:avLst>
          </a:prstGeom>
          <a:noFill/>
          <a:ln w="12700">
            <a:solidFill>
              <a:srgbClr val="7F9DB5"/>
            </a:solidFill>
            <a:prstDash val="solid"/>
          </a:ln>
        </p:spPr>
      </p:sp>
      <p:sp>
        <p:nvSpPr>
          <p:cNvPr id="49" name="Text 47"/>
          <p:cNvSpPr/>
          <p:nvPr/>
        </p:nvSpPr>
        <p:spPr>
          <a:xfrm>
            <a:off x="8178800" y="4523036"/>
            <a:ext cx="381000" cy="208260"/>
          </a:xfrm>
          <a:prstGeom prst="rect">
            <a:avLst/>
          </a:prstGeom>
          <a:noFill/>
          <a:ln/>
        </p:spPr>
        <p:txBody>
          <a:bodyPr wrap="none" lIns="0" tIns="0" rIns="0" bIns="0" rtlCol="0" anchor="t">
            <a:normAutofit/>
          </a:bodyPr>
          <a:lstStyle/>
          <a:p>
            <a:pPr algn="ctr" indent="0" marL="0">
              <a:lnSpc>
                <a:spcPts val="1440"/>
              </a:lnSpc>
              <a:buNone/>
            </a:pPr>
            <a:r>
              <a:rPr lang="en-US" sz="1200" b="1" dirty="0">
                <a:solidFill>
                  <a:srgbClr val="3E6F99"/>
                </a:solidFill>
                <a:latin typeface="Public Sans" pitchFamily="34" charset="0"/>
                <a:ea typeface="Public Sans" pitchFamily="34" charset="-122"/>
                <a:cs typeface="Public Sans" pitchFamily="34" charset="-120"/>
              </a:rPr>
              <a:t>05</a:t>
            </a:r>
            <a:endParaRPr lang="en-US" sz="1200" dirty="0"/>
          </a:p>
        </p:txBody>
      </p:sp>
      <p:sp>
        <p:nvSpPr>
          <p:cNvPr id="50" name="Text 48"/>
          <p:cNvSpPr/>
          <p:nvPr/>
        </p:nvSpPr>
        <p:spPr>
          <a:xfrm>
            <a:off x="8648700" y="4472236"/>
            <a:ext cx="259003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304D"/>
                </a:solidFill>
                <a:latin typeface="Public Sans" pitchFamily="34" charset="0"/>
                <a:ea typeface="Public Sans" pitchFamily="34" charset="-122"/>
                <a:cs typeface="Public Sans" pitchFamily="34" charset="-120"/>
              </a:rPr>
              <a:t>Delivery photos and customer claims</a:t>
            </a:r>
            <a:endParaRPr lang="en-US" sz="1200" dirty="0"/>
          </a:p>
        </p:txBody>
      </p:sp>
      <p:sp>
        <p:nvSpPr>
          <p:cNvPr id="51" name="Shape 49"/>
          <p:cNvSpPr/>
          <p:nvPr/>
        </p:nvSpPr>
        <p:spPr>
          <a:xfrm>
            <a:off x="819150" y="5462290"/>
            <a:ext cx="10553700" cy="373360"/>
          </a:xfrm>
          <a:prstGeom prst="roundRect">
            <a:avLst>
              <a:gd name="adj" fmla="val 22110"/>
            </a:avLst>
          </a:prstGeom>
          <a:solidFill>
            <a:srgbClr val="EAF1F6"/>
          </a:solidFill>
          <a:ln w="12700">
            <a:solidFill>
              <a:srgbClr val="D5DDE2"/>
            </a:solidFill>
            <a:prstDash val="solid"/>
          </a:ln>
        </p:spPr>
      </p:sp>
      <p:sp>
        <p:nvSpPr>
          <p:cNvPr id="52" name="Text 50"/>
          <p:cNvSpPr/>
          <p:nvPr/>
        </p:nvSpPr>
        <p:spPr>
          <a:xfrm>
            <a:off x="824357" y="5557540"/>
            <a:ext cx="10543286"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304D"/>
                </a:solidFill>
                <a:latin typeface="Public Sans" pitchFamily="34" charset="0"/>
                <a:ea typeface="Public Sans" pitchFamily="34" charset="-122"/>
                <a:cs typeface="Public Sans" pitchFamily="34" charset="-120"/>
              </a:rPr>
              <a:t>Hybrid model • AI: fast, repeatable, data-rich decisions • Human: ambiguous, safety-critical exceptions</a:t>
            </a:r>
            <a:endParaRPr lang="en-US" sz="1200" dirty="0"/>
          </a:p>
        </p:txBody>
      </p:sp>
      <p:sp>
        <p:nvSpPr>
          <p:cNvPr id="53" name="Text 51"/>
          <p:cNvSpPr/>
          <p:nvPr/>
        </p:nvSpPr>
        <p:spPr>
          <a:xfrm>
            <a:off x="812800" y="6238280"/>
            <a:ext cx="53093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B7A"/>
                </a:solidFill>
                <a:latin typeface="Public Sans" pitchFamily="34" charset="0"/>
                <a:ea typeface="Public Sans" pitchFamily="34" charset="-122"/>
                <a:cs typeface="Public Sans" pitchFamily="34" charset="-120"/>
              </a:rPr>
              <a:t>AEROFLEET DELIVERY</a:t>
            </a:r>
            <a:r>
              <a:rPr lang="en-US" sz="1200" dirty="0">
                <a:solidFill>
                  <a:srgbClr val="5A6B7A"/>
                </a:solidFill>
                <a:latin typeface="Public Sans" pitchFamily="34" charset="0"/>
                <a:ea typeface="Public Sans" pitchFamily="34" charset="-122"/>
                <a:cs typeface="Public Sans" pitchFamily="34" charset="-120"/>
              </a:rPr>
              <a:t> · Sources: Dronelife 2026; FAA Part 108 proposal</a:t>
            </a:r>
            <a:endParaRPr lang="en-US" sz="1200" dirty="0"/>
          </a:p>
        </p:txBody>
      </p:sp>
      <p:sp>
        <p:nvSpPr>
          <p:cNvPr id="54" name="Text 52"/>
          <p:cNvSpPr/>
          <p:nvPr/>
        </p:nvSpPr>
        <p:spPr>
          <a:xfrm>
            <a:off x="8790831" y="6238280"/>
            <a:ext cx="2666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A"/>
                </a:solidFill>
                <a:latin typeface="Public Sans" pitchFamily="34" charset="0"/>
                <a:ea typeface="Public Sans" pitchFamily="34" charset="-122"/>
                <a:cs typeface="Public Sans" pitchFamily="34" charset="-120"/>
              </a:rPr>
              <a:t>Logistics • AI + human-in-the-loop · 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Aerofleet Delivery</dc:title>
  <dc:subject>PptxGenJS Presentation</dc:subject>
  <dc:creator>PptxGenJS</dc:creator>
  <cp:lastModifiedBy>PptxGenJS</cp:lastModifiedBy>
  <cp:revision>1</cp:revision>
  <dcterms:created xsi:type="dcterms:W3CDTF">2026-09-29T04:06:12Z</dcterms:created>
  <dcterms:modified xsi:type="dcterms:W3CDTF">2026-09-29T04:06:12Z</dcterms:modified>
</cp:coreProperties>
</file>